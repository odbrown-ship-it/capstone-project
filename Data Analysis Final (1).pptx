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Fira Sans Extra Condensed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  <p:embeddedFont>
      <p:font typeface="Fira Sans Extra Condensed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FiraSansExtraCondensed-bold.fntdata"/><Relationship Id="rId21" Type="http://schemas.openxmlformats.org/officeDocument/2006/relationships/font" Target="fonts/FiraSansExtraCondensed-regular.fntdata"/><Relationship Id="rId24" Type="http://schemas.openxmlformats.org/officeDocument/2006/relationships/font" Target="fonts/FiraSansExtraCondensed-boldItalic.fntdata"/><Relationship Id="rId23" Type="http://schemas.openxmlformats.org/officeDocument/2006/relationships/font" Target="fonts/FiraSansExtraCondense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SemiBold-italic.fntdata"/><Relationship Id="rId30" Type="http://schemas.openxmlformats.org/officeDocument/2006/relationships/font" Target="fonts/FiraSansExtraCondensedSemi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FiraSansExtraCondensed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84c0e568c9b205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84c0e568c9b20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34e70190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34e70190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e2bbfea9d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e2bbfea9d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34e70190a_0_2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034e70190a_0_2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ddbf3252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ddbf3252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e2bbfea9d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e2bbfea9d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2bbfea9d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e2bbfea9d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e2bbfea9d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e2bbfea9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56e1b9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e56e1b9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34e70190a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34e70190a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2bbfea9d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e2bbfea9d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187e9325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187e9325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tatista.com/chart/18819/worldwide-market-share-of-leading-cloud-infrastructure-service-providers/?srsltid=AfmBOor_oEB2_19wQNxL8cfTzE3tHP5oqqQPfW14sucDS-cYI8QVgciR" TargetMode="External"/><Relationship Id="rId4" Type="http://schemas.openxmlformats.org/officeDocument/2006/relationships/hyperlink" Target="https://insights.stackoverflow.com/survey" TargetMode="External"/><Relationship Id="rId5" Type="http://schemas.openxmlformats.org/officeDocument/2006/relationships/hyperlink" Target="https://insights.stackoverflow.com/surve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09625" y="232575"/>
            <a:ext cx="4331700" cy="33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Which cloud platforms </a:t>
            </a:r>
            <a:endParaRPr b="1" sz="215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(AWS, Azure, Google Cloud)</a:t>
            </a:r>
            <a:endParaRPr b="1" sz="215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are associated with the highest salaries?</a:t>
            </a:r>
            <a:endParaRPr b="1" sz="5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By: Owen Brown and Cole Smith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Capstone Project: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SDT 100 01: Intro Data Science and Business Analytics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092322" y="2914633"/>
            <a:ext cx="1738986" cy="1021673"/>
          </a:xfrm>
          <a:custGeom>
            <a:rect b="b" l="l" r="r" t="t"/>
            <a:pathLst>
              <a:path extrusionOk="0" h="46572" w="79261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4937246" y="1761916"/>
            <a:ext cx="1801298" cy="2313940"/>
            <a:chOff x="2616388" y="1504175"/>
            <a:chExt cx="2082425" cy="2675075"/>
          </a:xfrm>
        </p:grpSpPr>
        <p:sp>
          <p:nvSpPr>
            <p:cNvPr id="58" name="Google Shape;58;p13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13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2" name="Google Shape;62;p13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" name="Google Shape;118;p13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3"/>
          <p:cNvSpPr/>
          <p:nvPr/>
        </p:nvSpPr>
        <p:spPr>
          <a:xfrm>
            <a:off x="7337884" y="2099322"/>
            <a:ext cx="1236307" cy="1672149"/>
          </a:xfrm>
          <a:custGeom>
            <a:rect b="b" l="l" r="r" t="t"/>
            <a:pathLst>
              <a:path extrusionOk="0" h="71307" w="52721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7331459" y="1728531"/>
            <a:ext cx="1249158" cy="741583"/>
          </a:xfrm>
          <a:custGeom>
            <a:rect b="b" l="l" r="r" t="t"/>
            <a:pathLst>
              <a:path extrusionOk="0" h="31624" w="53269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7357981" y="221265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7357981" y="2263753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7357981" y="2315132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7357981" y="2366511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7357981" y="2417890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7357981" y="2509463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357981" y="2560842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7357981" y="2611916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7357981" y="266329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7357981" y="2714674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7357981" y="280624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7357981" y="285762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7357981" y="2909004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7357981" y="2960078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7357981" y="301145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7357981" y="3103029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7357981" y="3154408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357981" y="320578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7357981" y="3257166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7357981" y="3308263"/>
            <a:ext cx="567349" cy="364366"/>
          </a:xfrm>
          <a:custGeom>
            <a:rect b="b" l="l" r="r" t="t"/>
            <a:pathLst>
              <a:path extrusionOk="0" h="15538" w="24194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7986746" y="221265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7986746" y="2263753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7986746" y="2315132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7986746" y="2366511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7986746" y="2417890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7986746" y="2509463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7986746" y="2560842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7986746" y="2611916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986746" y="266329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7986746" y="2714674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7986746" y="280624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7986746" y="285762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7986746" y="2909004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7986746" y="2960078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7986746" y="301145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7986746" y="3103029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7986746" y="3154408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7986746" y="320578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986746" y="3257166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7986746" y="3308263"/>
            <a:ext cx="567068" cy="364366"/>
          </a:xfrm>
          <a:custGeom>
            <a:rect b="b" l="l" r="r" t="t"/>
            <a:pathLst>
              <a:path extrusionOk="0" h="15538" w="24182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3"/>
          <p:cNvGrpSpPr/>
          <p:nvPr/>
        </p:nvGrpSpPr>
        <p:grpSpPr>
          <a:xfrm>
            <a:off x="7086987" y="1589552"/>
            <a:ext cx="1738986" cy="1497958"/>
            <a:chOff x="5553063" y="1487604"/>
            <a:chExt cx="1981525" cy="1707075"/>
          </a:xfrm>
        </p:grpSpPr>
        <p:sp>
          <p:nvSpPr>
            <p:cNvPr id="168" name="Google Shape;168;p13"/>
            <p:cNvSpPr/>
            <p:nvPr/>
          </p:nvSpPr>
          <p:spPr>
            <a:xfrm>
              <a:off x="5563488" y="2071829"/>
              <a:ext cx="1960975" cy="1122850"/>
            </a:xfrm>
            <a:custGeom>
              <a:rect b="b" l="l" r="r" t="t"/>
              <a:pathLst>
                <a:path extrusionOk="0" h="44914" w="78439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5553063" y="1487604"/>
              <a:ext cx="1981525" cy="1164300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3"/>
          <p:cNvSpPr/>
          <p:nvPr/>
        </p:nvSpPr>
        <p:spPr>
          <a:xfrm>
            <a:off x="5905421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6043496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6293996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6339421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6573921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6832446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6832446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066846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7186971" y="1601375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7374096" y="16186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7454646" y="1776250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7582571" y="17975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context: Why does it matter?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4835649" y="1299351"/>
            <a:ext cx="1438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Amazon Web Services </a:t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(AWS)</a:t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347374" y="137368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89" name="Google Shape;189;p14"/>
          <p:cNvGrpSpPr/>
          <p:nvPr/>
        </p:nvGrpSpPr>
        <p:grpSpPr>
          <a:xfrm>
            <a:off x="4835452" y="2220960"/>
            <a:ext cx="1437906" cy="569448"/>
            <a:chOff x="1130433" y="2425385"/>
            <a:chExt cx="1752902" cy="694194"/>
          </a:xfrm>
        </p:grpSpPr>
        <p:sp>
          <p:nvSpPr>
            <p:cNvPr id="190" name="Google Shape;190;p14"/>
            <p:cNvSpPr txBox="1"/>
            <p:nvPr/>
          </p:nvSpPr>
          <p:spPr>
            <a:xfrm>
              <a:off x="1130433" y="2425385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Google Cloud Platform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1" name="Google Shape;191;p14"/>
            <p:cNvSpPr txBox="1"/>
            <p:nvPr/>
          </p:nvSpPr>
          <p:spPr>
            <a:xfrm>
              <a:off x="1130435" y="2678880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2" name="Google Shape;192;p14"/>
          <p:cNvSpPr/>
          <p:nvPr/>
        </p:nvSpPr>
        <p:spPr>
          <a:xfrm>
            <a:off x="4347374" y="2295507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93" name="Google Shape;193;p14"/>
          <p:cNvGrpSpPr/>
          <p:nvPr/>
        </p:nvGrpSpPr>
        <p:grpSpPr>
          <a:xfrm>
            <a:off x="4835547" y="3142682"/>
            <a:ext cx="1437913" cy="569465"/>
            <a:chOff x="1130549" y="3573038"/>
            <a:chExt cx="1752912" cy="694216"/>
          </a:xfrm>
        </p:grpSpPr>
        <p:sp>
          <p:nvSpPr>
            <p:cNvPr id="194" name="Google Shape;194;p14"/>
            <p:cNvSpPr txBox="1"/>
            <p:nvPr/>
          </p:nvSpPr>
          <p:spPr>
            <a:xfrm>
              <a:off x="1130549" y="3573038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Oracle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1130560" y="3826553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6" name="Google Shape;196;p14"/>
          <p:cNvSpPr/>
          <p:nvPr/>
        </p:nvSpPr>
        <p:spPr>
          <a:xfrm>
            <a:off x="4347374" y="321734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97" name="Google Shape;197;p14"/>
          <p:cNvGrpSpPr/>
          <p:nvPr/>
        </p:nvGrpSpPr>
        <p:grpSpPr>
          <a:xfrm>
            <a:off x="6910932" y="1299235"/>
            <a:ext cx="1437913" cy="569448"/>
            <a:chOff x="3660580" y="1325753"/>
            <a:chExt cx="1752912" cy="694195"/>
          </a:xfrm>
        </p:grpSpPr>
        <p:sp>
          <p:nvSpPr>
            <p:cNvPr id="198" name="Google Shape;198;p14"/>
            <p:cNvSpPr txBox="1"/>
            <p:nvPr/>
          </p:nvSpPr>
          <p:spPr>
            <a:xfrm>
              <a:off x="3660580" y="13257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Microsoft Azure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3660591" y="1579249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0" name="Google Shape;200;p14"/>
          <p:cNvSpPr/>
          <p:nvPr/>
        </p:nvSpPr>
        <p:spPr>
          <a:xfrm>
            <a:off x="6446689" y="137368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201" name="Google Shape;201;p14"/>
          <p:cNvGrpSpPr/>
          <p:nvPr/>
        </p:nvGrpSpPr>
        <p:grpSpPr>
          <a:xfrm>
            <a:off x="6910932" y="2220960"/>
            <a:ext cx="1437913" cy="569450"/>
            <a:chOff x="3660580" y="2414153"/>
            <a:chExt cx="1752912" cy="694198"/>
          </a:xfrm>
        </p:grpSpPr>
        <p:sp>
          <p:nvSpPr>
            <p:cNvPr id="202" name="Google Shape;202;p14"/>
            <p:cNvSpPr txBox="1"/>
            <p:nvPr/>
          </p:nvSpPr>
          <p:spPr>
            <a:xfrm>
              <a:off x="3660580" y="24141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IBM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>
              <a:off x="3660591" y="2667651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4" name="Google Shape;204;p14"/>
          <p:cNvSpPr/>
          <p:nvPr/>
        </p:nvSpPr>
        <p:spPr>
          <a:xfrm>
            <a:off x="6446689" y="2295507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sp>
        <p:nvSpPr>
          <p:cNvPr id="205" name="Google Shape;205;p14"/>
          <p:cNvSpPr/>
          <p:nvPr/>
        </p:nvSpPr>
        <p:spPr>
          <a:xfrm>
            <a:off x="6446689" y="321734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206" name="Google Shape;206;p14"/>
          <p:cNvGrpSpPr/>
          <p:nvPr/>
        </p:nvGrpSpPr>
        <p:grpSpPr>
          <a:xfrm>
            <a:off x="6519196" y="1446432"/>
            <a:ext cx="275578" cy="275555"/>
            <a:chOff x="-4478975" y="3251700"/>
            <a:chExt cx="293825" cy="293800"/>
          </a:xfrm>
        </p:grpSpPr>
        <p:sp>
          <p:nvSpPr>
            <p:cNvPr id="207" name="Google Shape;207;p14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418041" y="1447566"/>
            <a:ext cx="279260" cy="273328"/>
            <a:chOff x="-4480550" y="3970800"/>
            <a:chExt cx="297750" cy="291425"/>
          </a:xfrm>
        </p:grpSpPr>
        <p:sp>
          <p:nvSpPr>
            <p:cNvPr id="211" name="Google Shape;211;p14"/>
            <p:cNvSpPr/>
            <p:nvPr/>
          </p:nvSpPr>
          <p:spPr>
            <a:xfrm>
              <a:off x="-4426200" y="4058225"/>
              <a:ext cx="51225" cy="69325"/>
            </a:xfrm>
            <a:custGeom>
              <a:rect b="b" l="l" r="r" t="t"/>
              <a:pathLst>
                <a:path extrusionOk="0" h="2773" w="2049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-4480550" y="3970800"/>
              <a:ext cx="297750" cy="291425"/>
            </a:xfrm>
            <a:custGeom>
              <a:rect b="b" l="l" r="r" t="t"/>
              <a:pathLst>
                <a:path extrusionOk="0" h="11657" w="1191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13" name="Google Shape;213;p14"/>
          <p:cNvGrpSpPr/>
          <p:nvPr/>
        </p:nvGrpSpPr>
        <p:grpSpPr>
          <a:xfrm>
            <a:off x="6518196" y="3291626"/>
            <a:ext cx="277783" cy="272507"/>
            <a:chOff x="-1183550" y="3586525"/>
            <a:chExt cx="296175" cy="290550"/>
          </a:xfrm>
        </p:grpSpPr>
        <p:sp>
          <p:nvSpPr>
            <p:cNvPr id="214" name="Google Shape;214;p14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4419631" y="2369380"/>
            <a:ext cx="276282" cy="273351"/>
            <a:chOff x="-1182750" y="3962900"/>
            <a:chExt cx="294575" cy="291450"/>
          </a:xfrm>
        </p:grpSpPr>
        <p:sp>
          <p:nvSpPr>
            <p:cNvPr id="224" name="Google Shape;224;p14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4421087" y="3290945"/>
            <a:ext cx="273210" cy="273890"/>
            <a:chOff x="-3771675" y="3971775"/>
            <a:chExt cx="291300" cy="292025"/>
          </a:xfrm>
        </p:grpSpPr>
        <p:sp>
          <p:nvSpPr>
            <p:cNvPr id="232" name="Google Shape;232;p14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37" name="Google Shape;237;p14"/>
          <p:cNvGrpSpPr/>
          <p:nvPr/>
        </p:nvGrpSpPr>
        <p:grpSpPr>
          <a:xfrm>
            <a:off x="6519660" y="2376027"/>
            <a:ext cx="274828" cy="260056"/>
            <a:chOff x="-1592325" y="3957400"/>
            <a:chExt cx="293025" cy="277275"/>
          </a:xfrm>
        </p:grpSpPr>
        <p:sp>
          <p:nvSpPr>
            <p:cNvPr id="238" name="Google Shape;238;p14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42" name="Google Shape;242;p14"/>
          <p:cNvGrpSpPr/>
          <p:nvPr/>
        </p:nvGrpSpPr>
        <p:grpSpPr>
          <a:xfrm>
            <a:off x="6910830" y="3142638"/>
            <a:ext cx="2911577" cy="701616"/>
            <a:chOff x="3660580" y="3573036"/>
            <a:chExt cx="1752906" cy="855316"/>
          </a:xfrm>
        </p:grpSpPr>
        <p:sp>
          <p:nvSpPr>
            <p:cNvPr id="243" name="Google Shape;243;p14"/>
            <p:cNvSpPr txBox="1"/>
            <p:nvPr/>
          </p:nvSpPr>
          <p:spPr>
            <a:xfrm>
              <a:off x="3660580" y="3573036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Alibaba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44" name="Google Shape;244;p14"/>
            <p:cNvSpPr txBox="1"/>
            <p:nvPr/>
          </p:nvSpPr>
          <p:spPr>
            <a:xfrm>
              <a:off x="3660586" y="3826552"/>
              <a:ext cx="17529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45" name="Google Shape;245;p14"/>
          <p:cNvSpPr txBox="1"/>
          <p:nvPr/>
        </p:nvSpPr>
        <p:spPr>
          <a:xfrm>
            <a:off x="62625" y="1373675"/>
            <a:ext cx="3971700" cy="3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AWS, Azure, and GCP are the three leading cloud platforms used worldwide.</a:t>
            </a:r>
            <a:b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Most companies rely on these platforms for daily operations and efficiency.</a:t>
            </a:r>
            <a:b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Skilled cloud professionals are in short supply, driving salaries upward.</a:t>
            </a:r>
            <a:b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Employers must compete for talent, making cloud expertise highly valuable.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4"/>
          <p:cNvSpPr txBox="1"/>
          <p:nvPr>
            <p:ph type="title"/>
          </p:nvPr>
        </p:nvSpPr>
        <p:spPr>
          <a:xfrm>
            <a:off x="6360799" y="4823700"/>
            <a:ext cx="27834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Adeyomola, 2024), (Felix, 2025)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context: Why does it matter?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62625" y="1373675"/>
            <a:ext cx="3971700" cy="6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Helps job seekers compare salary differences among AWS, Azure, and GCP </a:t>
            </a: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 sets</a:t>
            </a: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b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Helps identify which platform expertise commands the highest compensation.</a:t>
            </a:r>
            <a:b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Supports companies in budgeting for cloud roles and staying competitive.</a:t>
            </a:r>
            <a:b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Help job seekers choose which cloud platform skills offer the best financial return</a:t>
            </a:r>
            <a:b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Helps job seekers to find where the competition is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825" y="1173462"/>
            <a:ext cx="4804874" cy="279658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15"/>
          <p:cNvSpPr txBox="1"/>
          <p:nvPr>
            <p:ph type="title"/>
          </p:nvPr>
        </p:nvSpPr>
        <p:spPr>
          <a:xfrm>
            <a:off x="7586165" y="4792777"/>
            <a:ext cx="15609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Adeyomola, 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overview</a:t>
            </a:r>
            <a:endParaRPr/>
          </a:p>
        </p:txBody>
      </p:sp>
      <p:grpSp>
        <p:nvGrpSpPr>
          <p:cNvPr id="260" name="Google Shape;260;p16"/>
          <p:cNvGrpSpPr/>
          <p:nvPr/>
        </p:nvGrpSpPr>
        <p:grpSpPr>
          <a:xfrm>
            <a:off x="217191" y="813700"/>
            <a:ext cx="8701322" cy="3905150"/>
            <a:chOff x="2428889" y="616350"/>
            <a:chExt cx="6412648" cy="3905150"/>
          </a:xfrm>
        </p:grpSpPr>
        <p:sp>
          <p:nvSpPr>
            <p:cNvPr id="261" name="Google Shape;261;p16"/>
            <p:cNvSpPr txBox="1"/>
            <p:nvPr/>
          </p:nvSpPr>
          <p:spPr>
            <a:xfrm>
              <a:off x="4004085" y="622000"/>
              <a:ext cx="27072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rriweather"/>
                  <a:ea typeface="Merriweather"/>
                  <a:cs typeface="Merriweather"/>
                  <a:sym typeface="Merriweather"/>
                </a:rPr>
                <a:t>3,606 people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2" name="Google Shape;262;p16"/>
            <p:cNvSpPr txBox="1"/>
            <p:nvPr/>
          </p:nvSpPr>
          <p:spPr>
            <a:xfrm>
              <a:off x="4067668" y="1587875"/>
              <a:ext cx="47211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PlatformHaveWorkedWith : Cloud platforms used</a:t>
              </a:r>
              <a:endParaRPr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4071537" y="2564850"/>
              <a:ext cx="47700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ConvertedCompYearly : Annual salary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4071500" y="3547700"/>
              <a:ext cx="2643600" cy="97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YearsCodePro : Experience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5" name="Google Shape;265;p16"/>
            <p:cNvSpPr txBox="1"/>
            <p:nvPr/>
          </p:nvSpPr>
          <p:spPr>
            <a:xfrm>
              <a:off x="2471944" y="616350"/>
              <a:ext cx="14436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Sample size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2560443" y="1587875"/>
              <a:ext cx="11787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1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2560445" y="2570375"/>
              <a:ext cx="12666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2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8" name="Google Shape;268;p16"/>
            <p:cNvSpPr txBox="1"/>
            <p:nvPr/>
          </p:nvSpPr>
          <p:spPr>
            <a:xfrm>
              <a:off x="2560446" y="3541950"/>
              <a:ext cx="1511100" cy="97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3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cxnSp>
          <p:nvCxnSpPr>
            <p:cNvPr id="269" name="Google Shape;269;p16"/>
            <p:cNvCxnSpPr/>
            <p:nvPr/>
          </p:nvCxnSpPr>
          <p:spPr>
            <a:xfrm rot="10800000">
              <a:off x="2428889" y="1598800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6"/>
            <p:cNvCxnSpPr/>
            <p:nvPr/>
          </p:nvCxnSpPr>
          <p:spPr>
            <a:xfrm rot="10800000">
              <a:off x="2428889" y="2564675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6"/>
            <p:cNvCxnSpPr/>
            <p:nvPr/>
          </p:nvCxnSpPr>
          <p:spPr>
            <a:xfrm rot="10800000">
              <a:off x="2428889" y="3536188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6"/>
            <p:cNvCxnSpPr/>
            <p:nvPr/>
          </p:nvCxnSpPr>
          <p:spPr>
            <a:xfrm rot="10800000">
              <a:off x="2428889" y="4514600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16"/>
          <p:cNvSpPr txBox="1"/>
          <p:nvPr>
            <p:ph type="title"/>
          </p:nvPr>
        </p:nvSpPr>
        <p:spPr>
          <a:xfrm>
            <a:off x="7224600" y="4778075"/>
            <a:ext cx="19194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Visualization - Showing Key Relationship</a:t>
            </a:r>
            <a:endParaRPr/>
          </a:p>
        </p:txBody>
      </p:sp>
      <p:pic>
        <p:nvPicPr>
          <p:cNvPr id="279" name="Google Shape;2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99" y="1529625"/>
            <a:ext cx="3753150" cy="22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/>
          <p:nvPr/>
        </p:nvSpPr>
        <p:spPr>
          <a:xfrm>
            <a:off x="4293700" y="1529625"/>
            <a:ext cx="43383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often leads slightly for overall high-paying jobs, followed closely by Azure and GCP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architects sometimes commanding higher specific salaries due to niche skills, while GCP also offers competitive pricing for certain services, influencing overall cost-to-salary perception.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roles like SRE, Solutions Architect, and Machine Learning Engineer are top earners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 boasts strong roles like Infrastructure Engineer and Developer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shines in specialized areas like AI/Machine learning. 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1" name="Google Shape;281;p17"/>
          <p:cNvSpPr txBox="1"/>
          <p:nvPr>
            <p:ph type="title"/>
          </p:nvPr>
        </p:nvSpPr>
        <p:spPr>
          <a:xfrm>
            <a:off x="7173001" y="4778075"/>
            <a:ext cx="19710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title"/>
          </p:nvPr>
        </p:nvSpPr>
        <p:spPr>
          <a:xfrm>
            <a:off x="514800" y="18676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Results - Test Outcome/Interpretation - 1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4395275" y="3936225"/>
            <a:ext cx="47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8" name="Google Shape;288;p18"/>
          <p:cNvPicPr preferRelativeResize="0"/>
          <p:nvPr/>
        </p:nvPicPr>
        <p:blipFill rotWithShape="1">
          <a:blip r:embed="rId3">
            <a:alphaModFix/>
          </a:blip>
          <a:srcRect b="27084" l="15470" r="14808" t="29593"/>
          <a:stretch/>
        </p:blipFill>
        <p:spPr>
          <a:xfrm>
            <a:off x="5368524" y="808176"/>
            <a:ext cx="3156176" cy="1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44000"/>
            <a:ext cx="4491051" cy="20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761700"/>
            <a:ext cx="4167489" cy="20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/>
        </p:nvSpPr>
        <p:spPr>
          <a:xfrm>
            <a:off x="4724775" y="2381225"/>
            <a:ext cx="41676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AWS’s higher Mean indicates that it has a large amount of positively skewed data, indicating a large amount of highly-paid outliers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Assuming outliers, median is the best option for finding a true average, giving Azure the upper hand with the average worker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According to ANOVA, no statistically significant salary differences were found between the platforms, but ANOVA is best for normal distributions. Given that we have some varying salaries, Kruskal-Wallis may be best. 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ANOVA which uses Mean saw no difference, but in the Medians, which is used by Kruskal-Wallis test, GCP’s salary  appears to be lower, which fits with the Kruskal 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test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indication of at least 1 significant difference in salaries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792800" y="3669500"/>
            <a:ext cx="9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AWS: $72,814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2063425" y="3669500"/>
            <a:ext cx="100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Azure: $68,815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3429650" y="3669500"/>
            <a:ext cx="9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GCP: $66,906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680975" y="1355838"/>
            <a:ext cx="100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AWS: $55,264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894675" y="1355838"/>
            <a:ext cx="100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Azure: $55,687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3149050" y="1355825"/>
            <a:ext cx="9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GCP: $45,478</a:t>
            </a:r>
            <a:endParaRPr/>
          </a:p>
        </p:txBody>
      </p:sp>
      <p:sp>
        <p:nvSpPr>
          <p:cNvPr id="298" name="Google Shape;298;p18"/>
          <p:cNvSpPr txBox="1"/>
          <p:nvPr>
            <p:ph type="title"/>
          </p:nvPr>
        </p:nvSpPr>
        <p:spPr>
          <a:xfrm>
            <a:off x="7239576" y="0"/>
            <a:ext cx="19296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 txBox="1"/>
          <p:nvPr>
            <p:ph type="title"/>
          </p:nvPr>
        </p:nvSpPr>
        <p:spPr>
          <a:xfrm>
            <a:off x="481275" y="131400"/>
            <a:ext cx="7547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Statistical Results - Test Outcome/Interpretation - 2</a:t>
            </a:r>
            <a:endParaRPr sz="2000"/>
          </a:p>
        </p:txBody>
      </p:sp>
      <p:pic>
        <p:nvPicPr>
          <p:cNvPr id="304" name="Google Shape;3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7038"/>
            <a:ext cx="5474424" cy="35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/>
        </p:nvSpPr>
        <p:spPr>
          <a:xfrm>
            <a:off x="5514600" y="955500"/>
            <a:ext cx="36294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Engineering Managers and Architects have the highest salaries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reflecting decision-making authority, strategic responsibilities, and broader technical oversight.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Full-stack and back-end developers earn more than front-end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likely due to their involvement in core system logic, scalability, and architecture-heavy work.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Front-end developers earn the least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with the smallest spread, suggesting more standardized pay and fewer extremely high-earning positions.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many </a:t>
            </a: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high-end outliers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across all roles indicate that tech salaries can spike dramatically with seniority, specialized skills, or employment at major companies like FAANG.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Overall, salaries vary widely, but </a:t>
            </a: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senior, architecture, and leadership roles consistently command higher pay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6" name="Google Shape;306;p19"/>
          <p:cNvSpPr txBox="1"/>
          <p:nvPr>
            <p:ph type="title"/>
          </p:nvPr>
        </p:nvSpPr>
        <p:spPr>
          <a:xfrm>
            <a:off x="7193701" y="4823700"/>
            <a:ext cx="19503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-1273300" y="21746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Results - Test Outcome/</a:t>
            </a:r>
            <a:r>
              <a:rPr lang="en-GB"/>
              <a:t>Interpretation</a:t>
            </a:r>
            <a:r>
              <a:rPr lang="en-GB"/>
              <a:t>- 3</a:t>
            </a:r>
            <a:endParaRPr/>
          </a:p>
        </p:txBody>
      </p:sp>
      <p:pic>
        <p:nvPicPr>
          <p:cNvPr id="312" name="Google Shape;3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78" y="1174825"/>
            <a:ext cx="2751675" cy="287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 txBox="1"/>
          <p:nvPr/>
        </p:nvSpPr>
        <p:spPr>
          <a:xfrm>
            <a:off x="370975" y="1132975"/>
            <a:ext cx="51081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holds the largest market share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showing it remains the most widely used platform across enterprises, startups, and government, which increases job availability for AWS skills.</a:t>
            </a:r>
            <a:b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and Azure have similar adoption levels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indicating competitive but more niche demand compared to AWS.</a:t>
            </a:r>
            <a:b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near tie between Azure and GCP suggests that </a:t>
            </a: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multi-cloud strategies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are common and that skills in either service still support strong employability.</a:t>
            </a:r>
            <a:b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Overall, </a:t>
            </a:r>
            <a:r>
              <a:rPr b="1"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dominates hiring demand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while Azure and GCP provide growing opportunities, especially in companies already invested in Microsoft or Google ecosystems.</a:t>
            </a:r>
            <a:b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14" name="Google Shape;314;p20"/>
          <p:cNvSpPr txBox="1"/>
          <p:nvPr>
            <p:ph type="title"/>
          </p:nvPr>
        </p:nvSpPr>
        <p:spPr>
          <a:xfrm>
            <a:off x="7069627" y="4739275"/>
            <a:ext cx="18588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4522400" cy="250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075" y="2466800"/>
            <a:ext cx="4988925" cy="2676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 txBox="1"/>
          <p:nvPr/>
        </p:nvSpPr>
        <p:spPr>
          <a:xfrm>
            <a:off x="-108450" y="2617950"/>
            <a:ext cx="4172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There is a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positive upward trend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confirming that salary generally increases with experience.</a:t>
            </a:r>
            <a:b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However, the points are widely scattered, meaning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 alone doesn’t guarantee higher pay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—skills, certifications, company size, and role type also matter.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Even at low experience levels (0–5 years), some people earn well above $200k, showing that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high-paying roles are accessible early for those with in-demand cloud skills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 higher experience levels (15+ years), pay spreads even more, indicating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greater variation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in career paths—from mid-level engineers to high-earning managers and architects.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744350" y="311463"/>
            <a:ext cx="4064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Salaries cluster heavily between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$100k–$200k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showing this is the typical pay range for most cloud-related roles in the U.S.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long right tail (up to $500k) shows that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top earners—usually senior engineers, architects, or managers—can make far more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but these roles are much less common.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distribution is right-skewed, meaning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small group of highly experienced or specialized professionals drive up the top end of cloud salaries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23" name="Google Shape;323;p21"/>
          <p:cNvCxnSpPr/>
          <p:nvPr/>
        </p:nvCxnSpPr>
        <p:spPr>
          <a:xfrm flipH="1" rot="10800000">
            <a:off x="18150" y="2476425"/>
            <a:ext cx="9080400" cy="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21"/>
          <p:cNvSpPr txBox="1"/>
          <p:nvPr>
            <p:ph type="title"/>
          </p:nvPr>
        </p:nvSpPr>
        <p:spPr>
          <a:xfrm>
            <a:off x="7286402" y="0"/>
            <a:ext cx="18576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</a:t>
            </a:r>
            <a:r>
              <a:rPr lang="en-GB"/>
              <a:t>Recommendations/Review - 1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514800" y="1043175"/>
            <a:ext cx="81144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Cloud Certification ROI                                                                                                                        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Cloud certifications provide strong ROI because cloud roles pay well and have high growth potential. Senior and architecture-focused certifications lead to the highest returns. Roles like Engineering Manager and Architect earn the most, meaning advanced or multi-cloud certifications can lead to higher-paying leadership and design positions.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Which Platform to Standardize O</a:t>
            </a:r>
            <a:r>
              <a:rPr b="1" lang="en-GB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                                                                                                    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is the best platform to standardize on due to its dominant market share and the widest range of job opportunities. 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 and GCP are valuable, but their demand is smaller and more dependent on company-specific ecosystems.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 Demand vs. Supply Dynamics                                                                                                  </a:t>
            </a:r>
            <a:r>
              <a:rPr lang="en-GB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Salary variation and high-end outliers suggest strong demand and limited supply of advanced cloud skills, especially for senior architecture and management roles. Developer roles have tighter salary ranges, implying a larger supply of candidates. AWS skills are in highest demand due to adoption rates, while Azure and GCP skills remain competitive but less widely required.</a:t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1" name="Google Shape;331;p22"/>
          <p:cNvSpPr txBox="1"/>
          <p:nvPr>
            <p:ph type="title"/>
          </p:nvPr>
        </p:nvSpPr>
        <p:spPr>
          <a:xfrm>
            <a:off x="6360799" y="4813392"/>
            <a:ext cx="27834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(Adeyomola, 2024), (Felix, 2025)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 txBox="1"/>
          <p:nvPr>
            <p:ph type="title"/>
          </p:nvPr>
        </p:nvSpPr>
        <p:spPr>
          <a:xfrm>
            <a:off x="514775" y="70094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Recommendations - 2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14770" y="185814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999886" y="1887097"/>
            <a:ext cx="4251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23"/>
          <p:cNvGrpSpPr/>
          <p:nvPr/>
        </p:nvGrpSpPr>
        <p:grpSpPr>
          <a:xfrm>
            <a:off x="3048050" y="4604175"/>
            <a:ext cx="3227654" cy="2614625"/>
            <a:chOff x="2450703" y="3035025"/>
            <a:chExt cx="3031800" cy="2614625"/>
          </a:xfrm>
        </p:grpSpPr>
        <p:sp>
          <p:nvSpPr>
            <p:cNvPr id="340" name="Google Shape;340;p23"/>
            <p:cNvSpPr txBox="1"/>
            <p:nvPr/>
          </p:nvSpPr>
          <p:spPr>
            <a:xfrm>
              <a:off x="2450703" y="3405950"/>
              <a:ext cx="3031800" cy="22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ctr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3030461" y="3035025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Azure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42" name="Google Shape;342;p23"/>
          <p:cNvSpPr/>
          <p:nvPr/>
        </p:nvSpPr>
        <p:spPr>
          <a:xfrm>
            <a:off x="4077563" y="446499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3"/>
          <p:cNvGrpSpPr/>
          <p:nvPr/>
        </p:nvGrpSpPr>
        <p:grpSpPr>
          <a:xfrm>
            <a:off x="80623" y="2089525"/>
            <a:ext cx="3017502" cy="2803275"/>
            <a:chOff x="309205" y="3092150"/>
            <a:chExt cx="2834400" cy="2803275"/>
          </a:xfrm>
        </p:grpSpPr>
        <p:sp>
          <p:nvSpPr>
            <p:cNvPr id="344" name="Google Shape;344;p23"/>
            <p:cNvSpPr txBox="1"/>
            <p:nvPr/>
          </p:nvSpPr>
          <p:spPr>
            <a:xfrm flipH="1">
              <a:off x="309205" y="3526325"/>
              <a:ext cx="2834400" cy="23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Narrow the salary spread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by creating clearer leveling, since AWS-related roles show high variability and many outliers.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Improve skill accessibility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because AWS’s complexity requires more experience to reach higher-paying roles.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Strengthen training pathways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as its dominant market share means demand is high but talent pipelines lag behind.</a:t>
              </a:r>
              <a:b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</a:b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5" name="Google Shape;345;p23"/>
            <p:cNvSpPr txBox="1"/>
            <p:nvPr/>
          </p:nvSpPr>
          <p:spPr>
            <a:xfrm flipH="1">
              <a:off x="755354" y="30921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AWS</a:t>
              </a:r>
              <a:endParaRPr sz="19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46" name="Google Shape;346;p23"/>
          <p:cNvSpPr/>
          <p:nvPr/>
        </p:nvSpPr>
        <p:spPr>
          <a:xfrm>
            <a:off x="4111448" y="4493947"/>
            <a:ext cx="6477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" name="Google Shape;347;p23"/>
          <p:cNvGrpSpPr/>
          <p:nvPr/>
        </p:nvGrpSpPr>
        <p:grpSpPr>
          <a:xfrm>
            <a:off x="6316575" y="2089525"/>
            <a:ext cx="2676724" cy="3237375"/>
            <a:chOff x="5709568" y="3092150"/>
            <a:chExt cx="2514300" cy="3237375"/>
          </a:xfrm>
        </p:grpSpPr>
        <p:sp>
          <p:nvSpPr>
            <p:cNvPr id="348" name="Google Shape;348;p23"/>
            <p:cNvSpPr txBox="1"/>
            <p:nvPr/>
          </p:nvSpPr>
          <p:spPr>
            <a:xfrm>
              <a:off x="5709568" y="3526325"/>
              <a:ext cx="2514300" cy="28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Boost demand relative to supply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because GCP’s smaller market share creates fewer high-salary roles overall.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Expand role diversity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since most high-paying GCP positions center on data/ML rather than broad cloud operations.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Create clearer certification-to-job pipelines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so learners can convert skills into higher salaries more reliably.</a:t>
              </a:r>
              <a:b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</a:b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6009700" y="30921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GCP</a:t>
              </a:r>
              <a:endParaRPr sz="19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50" name="Google Shape;350;p23"/>
          <p:cNvSpPr/>
          <p:nvPr/>
        </p:nvSpPr>
        <p:spPr>
          <a:xfrm>
            <a:off x="7460563" y="185814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7746480" y="1887097"/>
            <a:ext cx="8865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 orange cloud with the word aws written inside of it (Provided by Tenor)" id="352" name="Google Shape;3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70" y="632422"/>
            <a:ext cx="1440850" cy="8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Microsoft Azure.svg - Wikimedia Commons" id="353" name="Google Shape;3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150" y="3169848"/>
            <a:ext cx="1015501" cy="10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-cloud-platform.svg - Wikimedia Commons" id="354" name="Google Shape;3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6258" y="583097"/>
            <a:ext cx="1261025" cy="12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 txBox="1"/>
          <p:nvPr/>
        </p:nvSpPr>
        <p:spPr>
          <a:xfrm>
            <a:off x="3185938" y="775525"/>
            <a:ext cx="300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Increase upper-end salary potential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since Azure roles tend to cluster more tightly and have fewer extreme high earners.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Enhance hands-on learning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because many Azure roles rely on Microsoft ecosystem familiarity, limiting newcomers.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Support career mobility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helping Azure learners transition into higher-paying architect and manager tracks.</a:t>
            </a:r>
            <a:b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6" name="Google Shape;356;p23"/>
          <p:cNvSpPr txBox="1"/>
          <p:nvPr>
            <p:ph type="title"/>
          </p:nvPr>
        </p:nvSpPr>
        <p:spPr>
          <a:xfrm>
            <a:off x="-2" y="4823700"/>
            <a:ext cx="2783400" cy="3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(Adeyomola, 2024), (Felix, 2025)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362" name="Google Shape;362;p24"/>
          <p:cNvSpPr txBox="1"/>
          <p:nvPr>
            <p:ph type="title"/>
          </p:nvPr>
        </p:nvSpPr>
        <p:spPr>
          <a:xfrm>
            <a:off x="514800" y="1056952"/>
            <a:ext cx="8114400" cy="35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Kazeem, Adeyomola. “AWS vs Azure vs Google Cloud in 2024: Cloud Comparison.” Cloudwards, July 11, 2024. https://www.cloudwards.net/aws-vs-azure-vs-google/.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Richter, Felix. “Infographic: AWS Stays Ahead as Cloud Market Accelerates.” Statista Daily Data. Statista, November 4, 2025. </a:t>
            </a:r>
            <a:r>
              <a:rPr lang="en-GB" sz="1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https://www.statista.com/chart/18819/worldwide-market-share-of-leading-cloud-infrastructure-service-providers/?srsltid=AfmBOor_oEB2_19wQNxL8cfTzE3tHP5oqqQPfW14sucDS-cYI8QVgciR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Overflow. (2025). 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Stack Overflow Annual Developer Survey 2025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[Data set]. Stack Overflow.</a:t>
            </a:r>
            <a:r>
              <a:rPr lang="en-GB" sz="14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 </a:t>
            </a:r>
            <a:r>
              <a:rPr lang="en-GB" sz="14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https://insights.stackoverflow.com/survey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