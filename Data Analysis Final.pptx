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Fira Sans Extra Condensed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Fira Sans Extra Condensed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-regular.fntdata"/><Relationship Id="rId22" Type="http://schemas.openxmlformats.org/officeDocument/2006/relationships/font" Target="fonts/FiraSansExtraCondensed-italic.fntdata"/><Relationship Id="rId21" Type="http://schemas.openxmlformats.org/officeDocument/2006/relationships/font" Target="fonts/FiraSansExtraCondensed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FiraSansExtraCondense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FiraSansExtraCondensedSemiBold-regular.fntdata"/><Relationship Id="rId27" Type="http://schemas.openxmlformats.org/officeDocument/2006/relationships/font" Target="fonts/Merriweath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ExtraCondensed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iraSansExtraCondensedSemiBold-boldItalic.fntdata"/><Relationship Id="rId30" Type="http://schemas.openxmlformats.org/officeDocument/2006/relationships/font" Target="fonts/FiraSansExtraCondensedSemiBol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384c0e568c9b205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384c0e568c9b205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34e70190a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034e70190a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e2bbfea9d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e2bbfea9d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034e70190a_0_2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034e70190a_0_2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ddbf32523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ddbf32523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e2bbfea9d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e2bbfea9d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e2bbfea9d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e2bbfea9d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e2bbfea9d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e2bbfea9d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e56e1b92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e56e1b92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034e70190a_0_2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034e70190a_0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2bbfea9d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e2bbfea9d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gif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09625" y="232575"/>
            <a:ext cx="4331700" cy="33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Which cloud platforms </a:t>
            </a:r>
            <a:endParaRPr b="1" sz="215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(AWS, Azure, Google Cloud)</a:t>
            </a:r>
            <a:endParaRPr b="1" sz="215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5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are associated with the highest salaries?</a:t>
            </a:r>
            <a:endParaRPr b="1" sz="5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By: Owen Brown and Cole Smith</a:t>
            </a:r>
            <a:endParaRPr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Capstone Project:</a:t>
            </a:r>
            <a:endParaRPr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SDT 100 01: Intro Data Science and Business Analytics</a:t>
            </a:r>
            <a:endParaRPr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7092322" y="2914633"/>
            <a:ext cx="1738986" cy="1021673"/>
          </a:xfrm>
          <a:custGeom>
            <a:rect b="b" l="l" r="r" t="t"/>
            <a:pathLst>
              <a:path extrusionOk="0" h="46572" w="79261">
                <a:moveTo>
                  <a:pt x="39635" y="1"/>
                </a:moveTo>
                <a:cubicBezTo>
                  <a:pt x="38749" y="1"/>
                  <a:pt x="37862" y="230"/>
                  <a:pt x="37065" y="688"/>
                </a:cubicBezTo>
                <a:lnTo>
                  <a:pt x="1679" y="21119"/>
                </a:lnTo>
                <a:cubicBezTo>
                  <a:pt x="1" y="22084"/>
                  <a:pt x="1" y="24489"/>
                  <a:pt x="1679" y="25453"/>
                </a:cubicBezTo>
                <a:lnTo>
                  <a:pt x="37065" y="45884"/>
                </a:lnTo>
                <a:cubicBezTo>
                  <a:pt x="37862" y="46343"/>
                  <a:pt x="38749" y="46572"/>
                  <a:pt x="39635" y="46572"/>
                </a:cubicBezTo>
                <a:cubicBezTo>
                  <a:pt x="40520" y="46572"/>
                  <a:pt x="41405" y="46343"/>
                  <a:pt x="42196" y="45884"/>
                </a:cubicBezTo>
                <a:lnTo>
                  <a:pt x="77594" y="25453"/>
                </a:lnTo>
                <a:cubicBezTo>
                  <a:pt x="79260" y="24489"/>
                  <a:pt x="79260" y="22084"/>
                  <a:pt x="77594" y="21119"/>
                </a:cubicBezTo>
                <a:lnTo>
                  <a:pt x="42196" y="688"/>
                </a:lnTo>
                <a:cubicBezTo>
                  <a:pt x="41405" y="230"/>
                  <a:pt x="40520" y="1"/>
                  <a:pt x="39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3"/>
          <p:cNvGrpSpPr/>
          <p:nvPr/>
        </p:nvGrpSpPr>
        <p:grpSpPr>
          <a:xfrm>
            <a:off x="4937246" y="1761916"/>
            <a:ext cx="1801298" cy="2313940"/>
            <a:chOff x="2616388" y="1504175"/>
            <a:chExt cx="2082425" cy="2675075"/>
          </a:xfrm>
        </p:grpSpPr>
        <p:sp>
          <p:nvSpPr>
            <p:cNvPr id="58" name="Google Shape;58;p13"/>
            <p:cNvSpPr/>
            <p:nvPr/>
          </p:nvSpPr>
          <p:spPr>
            <a:xfrm>
              <a:off x="2616688" y="3345475"/>
              <a:ext cx="1897575" cy="833775"/>
            </a:xfrm>
            <a:custGeom>
              <a:rect b="b" l="l" r="r" t="t"/>
              <a:pathLst>
                <a:path extrusionOk="0" h="33351" w="75903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616388" y="3057550"/>
              <a:ext cx="1897875" cy="1095775"/>
            </a:xfrm>
            <a:custGeom>
              <a:rect b="b" l="l" r="r" t="t"/>
              <a:pathLst>
                <a:path extrusionOk="0" h="43831" w="75915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643763" y="3070150"/>
              <a:ext cx="1853825" cy="1070400"/>
            </a:xfrm>
            <a:custGeom>
              <a:rect b="b" l="l" r="r" t="t"/>
              <a:pathLst>
                <a:path extrusionOk="0" h="42816" w="74153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" name="Google Shape;61;p13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2" name="Google Shape;62;p13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rect b="b" l="l" r="r" t="t"/>
                <a:pathLst>
                  <a:path extrusionOk="0" h="3169" w="5644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rect b="b" l="l" r="r" t="t"/>
                <a:pathLst>
                  <a:path extrusionOk="0" h="3168" w="5644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rect b="b" l="l" r="r" t="t"/>
                <a:pathLst>
                  <a:path extrusionOk="0" h="3163" w="5633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rect b="b" l="l" r="r" t="t"/>
                <a:pathLst>
                  <a:path extrusionOk="0" h="3163" w="5645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rect b="b" l="l" r="r" t="t"/>
                <a:pathLst>
                  <a:path extrusionOk="0" h="3168" w="5632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rect b="b" l="l" r="r" t="t"/>
                <a:pathLst>
                  <a:path extrusionOk="0" h="3173" w="5644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rect b="b" l="l" r="r" t="t"/>
                <a:pathLst>
                  <a:path extrusionOk="0" h="3167" w="5645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rect b="b" l="l" r="r" t="t"/>
                <a:pathLst>
                  <a:path extrusionOk="0" h="3162" w="5644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rect b="b" l="l" r="r" t="t"/>
                <a:pathLst>
                  <a:path extrusionOk="0" h="3162" w="5645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rect b="b" l="l" r="r" t="t"/>
                <a:pathLst>
                  <a:path extrusionOk="0" h="3317" w="5823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rect b="b" l="l" r="r" t="t"/>
                <a:pathLst>
                  <a:path extrusionOk="0" h="4585" w="8049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rect b="b" l="l" r="r" t="t"/>
                <a:pathLst>
                  <a:path extrusionOk="0" h="4962" w="8693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rect b="b" l="l" r="r" t="t"/>
                <a:pathLst>
                  <a:path extrusionOk="0" h="3316" w="5823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rect b="b" l="l" r="r" t="t"/>
                <a:pathLst>
                  <a:path extrusionOk="0" h="4581" w="8038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rect b="b" l="l" r="r" t="t"/>
                <a:pathLst>
                  <a:path extrusionOk="0" h="4959" w="8692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rect b="b" l="l" r="r" t="t"/>
                <a:pathLst>
                  <a:path extrusionOk="0" h="3319" w="5835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rect b="b" l="l" r="r" t="t"/>
                <a:pathLst>
                  <a:path extrusionOk="0" h="2743" w="4847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rect b="b" l="l" r="r" t="t"/>
                <a:pathLst>
                  <a:path extrusionOk="0" h="2740" w="4847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rect b="b" l="l" r="r" t="t"/>
                <a:pathLst>
                  <a:path extrusionOk="0" h="2736" w="4835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rect b="b" l="l" r="r" t="t"/>
                <a:pathLst>
                  <a:path extrusionOk="0" h="2741" w="4835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rect b="b" l="l" r="r" t="t"/>
                <a:pathLst>
                  <a:path extrusionOk="0" h="2734" w="4835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rect b="b" l="l" r="r" t="t"/>
                <a:pathLst>
                  <a:path extrusionOk="0" h="2736" w="4847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rect b="b" l="l" r="r" t="t"/>
                <a:pathLst>
                  <a:path extrusionOk="0" h="2740" w="4835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rect b="b" l="l" r="r" t="t"/>
                <a:pathLst>
                  <a:path extrusionOk="0" h="2796" w="4942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rect b="b" l="l" r="r" t="t"/>
                <a:pathLst>
                  <a:path extrusionOk="0" h="2795" w="493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rect b="b" l="l" r="r" t="t"/>
                <a:pathLst>
                  <a:path extrusionOk="0" h="2791" w="4943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rect b="b" l="l" r="r" t="t"/>
                <a:pathLst>
                  <a:path extrusionOk="0" h="2795" w="4942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rect b="b" l="l" r="r" t="t"/>
                <a:pathLst>
                  <a:path extrusionOk="0" h="2797" w="4942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rect b="b" l="l" r="r" t="t"/>
                <a:pathLst>
                  <a:path extrusionOk="0" h="2791" w="4942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rect b="b" l="l" r="r" t="t"/>
                <a:pathLst>
                  <a:path extrusionOk="0" h="2792" w="493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rect b="b" l="l" r="r" t="t"/>
                <a:pathLst>
                  <a:path extrusionOk="0" h="3023" w="5311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rect b="b" l="l" r="r" t="t"/>
                <a:pathLst>
                  <a:path extrusionOk="0" h="3024" w="5311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rect b="b" l="l" r="r" t="t"/>
                <a:pathLst>
                  <a:path extrusionOk="0" h="3024" w="5323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rect b="b" l="l" r="r" t="t"/>
                <a:pathLst>
                  <a:path extrusionOk="0" h="3323" w="5835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rect b="b" l="l" r="r" t="t"/>
                <a:pathLst>
                  <a:path extrusionOk="0" h="3324" w="5835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rect b="b" l="l" r="r" t="t"/>
                <a:pathLst>
                  <a:path extrusionOk="0" h="3318" w="5835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rect b="b" l="l" r="r" t="t"/>
                <a:pathLst>
                  <a:path extrusionOk="0" h="16132" w="28016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" name="Google Shape;118;p13"/>
            <p:cNvSpPr/>
            <p:nvPr/>
          </p:nvSpPr>
          <p:spPr>
            <a:xfrm>
              <a:off x="3548638" y="2988300"/>
              <a:ext cx="838525" cy="489075"/>
            </a:xfrm>
            <a:custGeom>
              <a:rect b="b" l="l" r="r" t="t"/>
              <a:pathLst>
                <a:path extrusionOk="0" h="19563" w="33541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3548638" y="2968000"/>
              <a:ext cx="838525" cy="484075"/>
            </a:xfrm>
            <a:custGeom>
              <a:rect b="b" l="l" r="r" t="t"/>
              <a:pathLst>
                <a:path extrusionOk="0" h="19363" w="33541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3760888" y="2885900"/>
              <a:ext cx="414350" cy="444425"/>
            </a:xfrm>
            <a:custGeom>
              <a:rect b="b" l="l" r="r" t="t"/>
              <a:pathLst>
                <a:path extrusionOk="0" h="17777" w="16574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3759688" y="2873400"/>
              <a:ext cx="415550" cy="239350"/>
            </a:xfrm>
            <a:custGeom>
              <a:rect b="b" l="l" r="r" t="t"/>
              <a:pathLst>
                <a:path extrusionOk="0" h="9574" w="16622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248613" y="1504175"/>
              <a:ext cx="1450200" cy="1892225"/>
            </a:xfrm>
            <a:custGeom>
              <a:rect b="b" l="l" r="r" t="t"/>
              <a:pathLst>
                <a:path extrusionOk="0" h="75689" w="58008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237288" y="1535150"/>
              <a:ext cx="1408250" cy="1864225"/>
            </a:xfrm>
            <a:custGeom>
              <a:rect b="b" l="l" r="r" t="t"/>
              <a:pathLst>
                <a:path extrusionOk="0" h="74569" w="5633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266763" y="1573550"/>
              <a:ext cx="1349000" cy="1787150"/>
            </a:xfrm>
            <a:custGeom>
              <a:rect b="b" l="l" r="r" t="t"/>
              <a:pathLst>
                <a:path extrusionOk="0" h="71486" w="5396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3"/>
          <p:cNvSpPr/>
          <p:nvPr/>
        </p:nvSpPr>
        <p:spPr>
          <a:xfrm>
            <a:off x="7337884" y="2099322"/>
            <a:ext cx="1236307" cy="1672149"/>
          </a:xfrm>
          <a:custGeom>
            <a:rect b="b" l="l" r="r" t="t"/>
            <a:pathLst>
              <a:path extrusionOk="0" h="71307" w="52721">
                <a:moveTo>
                  <a:pt x="52709" y="0"/>
                </a:moveTo>
                <a:lnTo>
                  <a:pt x="0" y="0"/>
                </a:lnTo>
                <a:lnTo>
                  <a:pt x="0" y="55495"/>
                </a:lnTo>
                <a:cubicBezTo>
                  <a:pt x="0" y="56090"/>
                  <a:pt x="321" y="56650"/>
                  <a:pt x="845" y="56948"/>
                </a:cubicBezTo>
                <a:lnTo>
                  <a:pt x="24646" y="70699"/>
                </a:lnTo>
                <a:cubicBezTo>
                  <a:pt x="25706" y="71306"/>
                  <a:pt x="27027" y="71306"/>
                  <a:pt x="28087" y="70699"/>
                </a:cubicBezTo>
                <a:lnTo>
                  <a:pt x="51876" y="56948"/>
                </a:lnTo>
                <a:cubicBezTo>
                  <a:pt x="52399" y="56650"/>
                  <a:pt x="52721" y="56090"/>
                  <a:pt x="52721" y="55495"/>
                </a:cubicBezTo>
                <a:lnTo>
                  <a:pt x="52721" y="554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7331459" y="1728531"/>
            <a:ext cx="1249158" cy="741583"/>
          </a:xfrm>
          <a:custGeom>
            <a:rect b="b" l="l" r="r" t="t"/>
            <a:pathLst>
              <a:path extrusionOk="0" h="31624" w="53269">
                <a:moveTo>
                  <a:pt x="24920" y="31004"/>
                </a:moveTo>
                <a:lnTo>
                  <a:pt x="1119" y="17265"/>
                </a:lnTo>
                <a:cubicBezTo>
                  <a:pt x="0" y="16622"/>
                  <a:pt x="0" y="15002"/>
                  <a:pt x="1119" y="14359"/>
                </a:cubicBezTo>
                <a:lnTo>
                  <a:pt x="24920" y="620"/>
                </a:lnTo>
                <a:cubicBezTo>
                  <a:pt x="25980" y="1"/>
                  <a:pt x="27301" y="1"/>
                  <a:pt x="28361" y="620"/>
                </a:cubicBezTo>
                <a:lnTo>
                  <a:pt x="52150" y="14359"/>
                </a:lnTo>
                <a:cubicBezTo>
                  <a:pt x="53269" y="15002"/>
                  <a:pt x="53269" y="16622"/>
                  <a:pt x="52150" y="17265"/>
                </a:cubicBezTo>
                <a:lnTo>
                  <a:pt x="28361" y="31004"/>
                </a:lnTo>
                <a:cubicBezTo>
                  <a:pt x="27289" y="31624"/>
                  <a:pt x="25980" y="31624"/>
                  <a:pt x="24920" y="310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7357981" y="2212656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7"/>
                </a:moveTo>
                <a:lnTo>
                  <a:pt x="0" y="1561"/>
                </a:lnTo>
                <a:lnTo>
                  <a:pt x="0" y="1"/>
                </a:lnTo>
                <a:lnTo>
                  <a:pt x="24194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7357981" y="2263753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7357981" y="2315132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7357981" y="2366511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7357981" y="2417890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7357981" y="2509463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7357981" y="2560842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7357981" y="2611916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7357981" y="2663295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7357981" y="2714674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7357981" y="2806246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7357981" y="2857625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7357981" y="2909004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7357981" y="2960078"/>
            <a:ext cx="567349" cy="364390"/>
          </a:xfrm>
          <a:custGeom>
            <a:rect b="b" l="l" r="r" t="t"/>
            <a:pathLst>
              <a:path extrusionOk="0" h="15539" w="24194">
                <a:moveTo>
                  <a:pt x="24194" y="15539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7357981" y="3011457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7357981" y="3103029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7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7357981" y="3154408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7357981" y="3205787"/>
            <a:ext cx="567349" cy="364108"/>
          </a:xfrm>
          <a:custGeom>
            <a:rect b="b" l="l" r="r" t="t"/>
            <a:pathLst>
              <a:path extrusionOk="0" h="15527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7357981" y="3257166"/>
            <a:ext cx="567349" cy="364085"/>
          </a:xfrm>
          <a:custGeom>
            <a:rect b="b" l="l" r="r" t="t"/>
            <a:pathLst>
              <a:path extrusionOk="0" h="15526" w="24194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7357981" y="3308263"/>
            <a:ext cx="567349" cy="364366"/>
          </a:xfrm>
          <a:custGeom>
            <a:rect b="b" l="l" r="r" t="t"/>
            <a:pathLst>
              <a:path extrusionOk="0" h="15538" w="24194">
                <a:moveTo>
                  <a:pt x="24194" y="15538"/>
                </a:moveTo>
                <a:lnTo>
                  <a:pt x="0" y="1572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7986746" y="2212656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7"/>
                </a:moveTo>
                <a:lnTo>
                  <a:pt x="24182" y="1561"/>
                </a:lnTo>
                <a:lnTo>
                  <a:pt x="24182" y="1"/>
                </a:lnTo>
                <a:lnTo>
                  <a:pt x="0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7986746" y="2263753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7986746" y="2315132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7986746" y="2366511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7986746" y="2417890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7986746" y="2509463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7986746" y="2560842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7986746" y="2611916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7986746" y="2663295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7986746" y="2714674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7986746" y="2806246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7986746" y="2857625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7986746" y="2909004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7986746" y="2960078"/>
            <a:ext cx="567068" cy="364390"/>
          </a:xfrm>
          <a:custGeom>
            <a:rect b="b" l="l" r="r" t="t"/>
            <a:pathLst>
              <a:path extrusionOk="0" h="15539" w="24182">
                <a:moveTo>
                  <a:pt x="0" y="15539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7986746" y="3011457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7986746" y="3103029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7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7986746" y="3154408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7986746" y="3205787"/>
            <a:ext cx="567068" cy="364108"/>
          </a:xfrm>
          <a:custGeom>
            <a:rect b="b" l="l" r="r" t="t"/>
            <a:pathLst>
              <a:path extrusionOk="0" h="15527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7986746" y="3257166"/>
            <a:ext cx="567068" cy="364085"/>
          </a:xfrm>
          <a:custGeom>
            <a:rect b="b" l="l" r="r" t="t"/>
            <a:pathLst>
              <a:path extrusionOk="0" h="15526" w="24182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7986746" y="3308263"/>
            <a:ext cx="567068" cy="364366"/>
          </a:xfrm>
          <a:custGeom>
            <a:rect b="b" l="l" r="r" t="t"/>
            <a:pathLst>
              <a:path extrusionOk="0" h="15538" w="24182">
                <a:moveTo>
                  <a:pt x="0" y="15538"/>
                </a:moveTo>
                <a:lnTo>
                  <a:pt x="24182" y="1572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3"/>
          <p:cNvGrpSpPr/>
          <p:nvPr/>
        </p:nvGrpSpPr>
        <p:grpSpPr>
          <a:xfrm>
            <a:off x="7086987" y="1589552"/>
            <a:ext cx="1738986" cy="1497958"/>
            <a:chOff x="5553063" y="1487604"/>
            <a:chExt cx="1981525" cy="1707075"/>
          </a:xfrm>
        </p:grpSpPr>
        <p:sp>
          <p:nvSpPr>
            <p:cNvPr id="168" name="Google Shape;168;p13"/>
            <p:cNvSpPr/>
            <p:nvPr/>
          </p:nvSpPr>
          <p:spPr>
            <a:xfrm>
              <a:off x="5563488" y="2071829"/>
              <a:ext cx="1960975" cy="1122850"/>
            </a:xfrm>
            <a:custGeom>
              <a:rect b="b" l="l" r="r" t="t"/>
              <a:pathLst>
                <a:path extrusionOk="0" h="44914" w="78439">
                  <a:moveTo>
                    <a:pt x="12" y="1"/>
                  </a:moveTo>
                  <a:cubicBezTo>
                    <a:pt x="12" y="72"/>
                    <a:pt x="12" y="132"/>
                    <a:pt x="12" y="191"/>
                  </a:cubicBezTo>
                  <a:cubicBezTo>
                    <a:pt x="12" y="263"/>
                    <a:pt x="12" y="322"/>
                    <a:pt x="12" y="394"/>
                  </a:cubicBezTo>
                  <a:cubicBezTo>
                    <a:pt x="12" y="453"/>
                    <a:pt x="12" y="525"/>
                    <a:pt x="12" y="584"/>
                  </a:cubicBezTo>
                  <a:cubicBezTo>
                    <a:pt x="12" y="656"/>
                    <a:pt x="12" y="715"/>
                    <a:pt x="12" y="775"/>
                  </a:cubicBezTo>
                  <a:cubicBezTo>
                    <a:pt x="12" y="846"/>
                    <a:pt x="12" y="906"/>
                    <a:pt x="12" y="977"/>
                  </a:cubicBezTo>
                  <a:cubicBezTo>
                    <a:pt x="12" y="1037"/>
                    <a:pt x="12" y="1108"/>
                    <a:pt x="12" y="1167"/>
                  </a:cubicBezTo>
                  <a:cubicBezTo>
                    <a:pt x="12" y="1239"/>
                    <a:pt x="12" y="1298"/>
                    <a:pt x="12" y="1358"/>
                  </a:cubicBezTo>
                  <a:cubicBezTo>
                    <a:pt x="12" y="1429"/>
                    <a:pt x="12" y="1489"/>
                    <a:pt x="12" y="1560"/>
                  </a:cubicBezTo>
                  <a:cubicBezTo>
                    <a:pt x="12" y="1620"/>
                    <a:pt x="12" y="1691"/>
                    <a:pt x="12" y="1751"/>
                  </a:cubicBezTo>
                  <a:cubicBezTo>
                    <a:pt x="12" y="1822"/>
                    <a:pt x="12" y="1882"/>
                    <a:pt x="12" y="1941"/>
                  </a:cubicBezTo>
                  <a:cubicBezTo>
                    <a:pt x="12" y="2013"/>
                    <a:pt x="12" y="2072"/>
                    <a:pt x="12" y="2144"/>
                  </a:cubicBezTo>
                  <a:cubicBezTo>
                    <a:pt x="12" y="2203"/>
                    <a:pt x="12" y="2275"/>
                    <a:pt x="12" y="2334"/>
                  </a:cubicBezTo>
                  <a:cubicBezTo>
                    <a:pt x="12" y="2406"/>
                    <a:pt x="12" y="2465"/>
                    <a:pt x="12" y="2525"/>
                  </a:cubicBezTo>
                  <a:cubicBezTo>
                    <a:pt x="12" y="2596"/>
                    <a:pt x="12" y="2656"/>
                    <a:pt x="12" y="2727"/>
                  </a:cubicBezTo>
                  <a:cubicBezTo>
                    <a:pt x="12" y="2787"/>
                    <a:pt x="12" y="2858"/>
                    <a:pt x="12" y="2918"/>
                  </a:cubicBezTo>
                  <a:cubicBezTo>
                    <a:pt x="12" y="2989"/>
                    <a:pt x="12" y="3049"/>
                    <a:pt x="12" y="3108"/>
                  </a:cubicBezTo>
                  <a:cubicBezTo>
                    <a:pt x="12" y="3180"/>
                    <a:pt x="12" y="3239"/>
                    <a:pt x="12" y="3311"/>
                  </a:cubicBezTo>
                  <a:cubicBezTo>
                    <a:pt x="12" y="3370"/>
                    <a:pt x="12" y="3442"/>
                    <a:pt x="12" y="3501"/>
                  </a:cubicBezTo>
                  <a:cubicBezTo>
                    <a:pt x="12" y="3573"/>
                    <a:pt x="12" y="3632"/>
                    <a:pt x="12" y="3692"/>
                  </a:cubicBezTo>
                  <a:cubicBezTo>
                    <a:pt x="12" y="3763"/>
                    <a:pt x="12" y="3823"/>
                    <a:pt x="12" y="3894"/>
                  </a:cubicBezTo>
                  <a:cubicBezTo>
                    <a:pt x="12" y="3954"/>
                    <a:pt x="12" y="4025"/>
                    <a:pt x="12" y="4085"/>
                  </a:cubicBezTo>
                  <a:cubicBezTo>
                    <a:pt x="12" y="4156"/>
                    <a:pt x="12" y="4215"/>
                    <a:pt x="12" y="4275"/>
                  </a:cubicBezTo>
                  <a:cubicBezTo>
                    <a:pt x="12" y="4346"/>
                    <a:pt x="12" y="4406"/>
                    <a:pt x="12" y="4477"/>
                  </a:cubicBezTo>
                  <a:cubicBezTo>
                    <a:pt x="12" y="4537"/>
                    <a:pt x="12" y="4608"/>
                    <a:pt x="12" y="4668"/>
                  </a:cubicBezTo>
                  <a:cubicBezTo>
                    <a:pt x="12" y="4739"/>
                    <a:pt x="12" y="4799"/>
                    <a:pt x="12" y="4858"/>
                  </a:cubicBezTo>
                  <a:cubicBezTo>
                    <a:pt x="12" y="4930"/>
                    <a:pt x="12" y="4989"/>
                    <a:pt x="12" y="5061"/>
                  </a:cubicBezTo>
                  <a:cubicBezTo>
                    <a:pt x="12" y="5120"/>
                    <a:pt x="12" y="5192"/>
                    <a:pt x="12" y="5251"/>
                  </a:cubicBezTo>
                  <a:cubicBezTo>
                    <a:pt x="12" y="5323"/>
                    <a:pt x="12" y="5382"/>
                    <a:pt x="12" y="5442"/>
                  </a:cubicBezTo>
                  <a:cubicBezTo>
                    <a:pt x="12" y="5513"/>
                    <a:pt x="12" y="5573"/>
                    <a:pt x="12" y="5644"/>
                  </a:cubicBezTo>
                  <a:cubicBezTo>
                    <a:pt x="12" y="5704"/>
                    <a:pt x="12" y="5775"/>
                    <a:pt x="12" y="5835"/>
                  </a:cubicBezTo>
                  <a:cubicBezTo>
                    <a:pt x="12" y="5906"/>
                    <a:pt x="12" y="5966"/>
                    <a:pt x="12" y="6025"/>
                  </a:cubicBezTo>
                  <a:cubicBezTo>
                    <a:pt x="12" y="6097"/>
                    <a:pt x="12" y="6156"/>
                    <a:pt x="12" y="6228"/>
                  </a:cubicBezTo>
                  <a:cubicBezTo>
                    <a:pt x="12" y="6287"/>
                    <a:pt x="12" y="6359"/>
                    <a:pt x="12" y="6418"/>
                  </a:cubicBezTo>
                  <a:cubicBezTo>
                    <a:pt x="12" y="6490"/>
                    <a:pt x="12" y="6549"/>
                    <a:pt x="12" y="6609"/>
                  </a:cubicBezTo>
                  <a:cubicBezTo>
                    <a:pt x="12" y="6680"/>
                    <a:pt x="12" y="6740"/>
                    <a:pt x="12" y="6811"/>
                  </a:cubicBezTo>
                  <a:cubicBezTo>
                    <a:pt x="12" y="6871"/>
                    <a:pt x="12" y="6942"/>
                    <a:pt x="12" y="7002"/>
                  </a:cubicBezTo>
                  <a:cubicBezTo>
                    <a:pt x="12" y="7073"/>
                    <a:pt x="12" y="7132"/>
                    <a:pt x="12" y="7192"/>
                  </a:cubicBezTo>
                  <a:cubicBezTo>
                    <a:pt x="12" y="7263"/>
                    <a:pt x="12" y="7323"/>
                    <a:pt x="12" y="7394"/>
                  </a:cubicBezTo>
                  <a:cubicBezTo>
                    <a:pt x="12" y="7454"/>
                    <a:pt x="12" y="7525"/>
                    <a:pt x="12" y="7585"/>
                  </a:cubicBezTo>
                  <a:cubicBezTo>
                    <a:pt x="12" y="7656"/>
                    <a:pt x="12" y="7716"/>
                    <a:pt x="12" y="7775"/>
                  </a:cubicBezTo>
                  <a:cubicBezTo>
                    <a:pt x="12" y="7847"/>
                    <a:pt x="12" y="7906"/>
                    <a:pt x="12" y="7978"/>
                  </a:cubicBezTo>
                  <a:cubicBezTo>
                    <a:pt x="12" y="8037"/>
                    <a:pt x="12" y="8109"/>
                    <a:pt x="12" y="8168"/>
                  </a:cubicBezTo>
                  <a:cubicBezTo>
                    <a:pt x="12" y="8228"/>
                    <a:pt x="12" y="8299"/>
                    <a:pt x="12" y="8359"/>
                  </a:cubicBezTo>
                  <a:cubicBezTo>
                    <a:pt x="12" y="8430"/>
                    <a:pt x="12" y="8490"/>
                    <a:pt x="12" y="8561"/>
                  </a:cubicBezTo>
                  <a:cubicBezTo>
                    <a:pt x="12" y="8621"/>
                    <a:pt x="12" y="8692"/>
                    <a:pt x="12" y="8752"/>
                  </a:cubicBezTo>
                  <a:cubicBezTo>
                    <a:pt x="12" y="8811"/>
                    <a:pt x="12" y="8883"/>
                    <a:pt x="12" y="8942"/>
                  </a:cubicBezTo>
                  <a:cubicBezTo>
                    <a:pt x="12" y="9014"/>
                    <a:pt x="12" y="9073"/>
                    <a:pt x="12" y="9145"/>
                  </a:cubicBezTo>
                  <a:cubicBezTo>
                    <a:pt x="12" y="9204"/>
                    <a:pt x="12" y="9276"/>
                    <a:pt x="12" y="9335"/>
                  </a:cubicBezTo>
                  <a:cubicBezTo>
                    <a:pt x="12" y="9395"/>
                    <a:pt x="12" y="9466"/>
                    <a:pt x="12" y="9526"/>
                  </a:cubicBezTo>
                  <a:cubicBezTo>
                    <a:pt x="12" y="9597"/>
                    <a:pt x="12" y="9657"/>
                    <a:pt x="12" y="9728"/>
                  </a:cubicBezTo>
                  <a:cubicBezTo>
                    <a:pt x="12" y="9788"/>
                    <a:pt x="12" y="9859"/>
                    <a:pt x="12" y="9919"/>
                  </a:cubicBezTo>
                  <a:cubicBezTo>
                    <a:pt x="12" y="9978"/>
                    <a:pt x="12" y="10050"/>
                    <a:pt x="12" y="10109"/>
                  </a:cubicBezTo>
                  <a:cubicBezTo>
                    <a:pt x="12" y="10180"/>
                    <a:pt x="12" y="10240"/>
                    <a:pt x="12" y="10311"/>
                  </a:cubicBezTo>
                  <a:cubicBezTo>
                    <a:pt x="12" y="10371"/>
                    <a:pt x="12" y="10442"/>
                    <a:pt x="12" y="10502"/>
                  </a:cubicBezTo>
                  <a:cubicBezTo>
                    <a:pt x="12" y="10561"/>
                    <a:pt x="12" y="10633"/>
                    <a:pt x="12" y="10692"/>
                  </a:cubicBezTo>
                  <a:cubicBezTo>
                    <a:pt x="12" y="10764"/>
                    <a:pt x="12" y="10823"/>
                    <a:pt x="12" y="10895"/>
                  </a:cubicBezTo>
                  <a:cubicBezTo>
                    <a:pt x="12" y="10954"/>
                    <a:pt x="12" y="11026"/>
                    <a:pt x="12" y="11085"/>
                  </a:cubicBezTo>
                  <a:cubicBezTo>
                    <a:pt x="12" y="11145"/>
                    <a:pt x="12" y="11216"/>
                    <a:pt x="12" y="11276"/>
                  </a:cubicBezTo>
                  <a:cubicBezTo>
                    <a:pt x="12" y="11347"/>
                    <a:pt x="12" y="11407"/>
                    <a:pt x="12" y="11478"/>
                  </a:cubicBezTo>
                  <a:cubicBezTo>
                    <a:pt x="12" y="11538"/>
                    <a:pt x="12" y="11609"/>
                    <a:pt x="12" y="11669"/>
                  </a:cubicBezTo>
                  <a:cubicBezTo>
                    <a:pt x="12" y="11728"/>
                    <a:pt x="12" y="11800"/>
                    <a:pt x="12" y="11859"/>
                  </a:cubicBezTo>
                  <a:cubicBezTo>
                    <a:pt x="12" y="11931"/>
                    <a:pt x="12" y="11990"/>
                    <a:pt x="12" y="12062"/>
                  </a:cubicBezTo>
                  <a:cubicBezTo>
                    <a:pt x="12" y="12121"/>
                    <a:pt x="12" y="12193"/>
                    <a:pt x="12" y="12252"/>
                  </a:cubicBezTo>
                  <a:cubicBezTo>
                    <a:pt x="12" y="12312"/>
                    <a:pt x="12" y="12383"/>
                    <a:pt x="12" y="12443"/>
                  </a:cubicBezTo>
                  <a:cubicBezTo>
                    <a:pt x="12" y="12514"/>
                    <a:pt x="12" y="12574"/>
                    <a:pt x="12" y="12645"/>
                  </a:cubicBezTo>
                  <a:cubicBezTo>
                    <a:pt x="12" y="12705"/>
                    <a:pt x="12" y="12776"/>
                    <a:pt x="12" y="12836"/>
                  </a:cubicBezTo>
                  <a:cubicBezTo>
                    <a:pt x="12" y="12895"/>
                    <a:pt x="12" y="12967"/>
                    <a:pt x="12" y="13026"/>
                  </a:cubicBezTo>
                  <a:cubicBezTo>
                    <a:pt x="12" y="13098"/>
                    <a:pt x="12" y="13157"/>
                    <a:pt x="12" y="13228"/>
                  </a:cubicBezTo>
                  <a:cubicBezTo>
                    <a:pt x="12" y="13288"/>
                    <a:pt x="12" y="13359"/>
                    <a:pt x="12" y="13419"/>
                  </a:cubicBezTo>
                  <a:cubicBezTo>
                    <a:pt x="12" y="13479"/>
                    <a:pt x="12" y="13550"/>
                    <a:pt x="12" y="13609"/>
                  </a:cubicBezTo>
                  <a:cubicBezTo>
                    <a:pt x="12" y="13681"/>
                    <a:pt x="12" y="13740"/>
                    <a:pt x="12" y="13812"/>
                  </a:cubicBezTo>
                  <a:cubicBezTo>
                    <a:pt x="12" y="13871"/>
                    <a:pt x="12" y="13943"/>
                    <a:pt x="12" y="14002"/>
                  </a:cubicBezTo>
                  <a:cubicBezTo>
                    <a:pt x="12" y="14062"/>
                    <a:pt x="12" y="14133"/>
                    <a:pt x="12" y="14193"/>
                  </a:cubicBezTo>
                  <a:cubicBezTo>
                    <a:pt x="12" y="14264"/>
                    <a:pt x="12" y="14324"/>
                    <a:pt x="12" y="14395"/>
                  </a:cubicBezTo>
                  <a:cubicBezTo>
                    <a:pt x="12" y="14455"/>
                    <a:pt x="12" y="14526"/>
                    <a:pt x="12" y="14586"/>
                  </a:cubicBezTo>
                  <a:cubicBezTo>
                    <a:pt x="12" y="14645"/>
                    <a:pt x="12" y="14717"/>
                    <a:pt x="12" y="14776"/>
                  </a:cubicBezTo>
                  <a:cubicBezTo>
                    <a:pt x="12" y="14848"/>
                    <a:pt x="12" y="14907"/>
                    <a:pt x="12" y="14979"/>
                  </a:cubicBezTo>
                  <a:cubicBezTo>
                    <a:pt x="12" y="15038"/>
                    <a:pt x="12" y="15110"/>
                    <a:pt x="12" y="15169"/>
                  </a:cubicBezTo>
                  <a:cubicBezTo>
                    <a:pt x="12" y="15229"/>
                    <a:pt x="12" y="15300"/>
                    <a:pt x="12" y="15360"/>
                  </a:cubicBezTo>
                  <a:cubicBezTo>
                    <a:pt x="12" y="15431"/>
                    <a:pt x="12" y="15491"/>
                    <a:pt x="12" y="15562"/>
                  </a:cubicBezTo>
                  <a:cubicBezTo>
                    <a:pt x="12" y="15622"/>
                    <a:pt x="12" y="15693"/>
                    <a:pt x="12" y="15753"/>
                  </a:cubicBezTo>
                  <a:cubicBezTo>
                    <a:pt x="12" y="15812"/>
                    <a:pt x="12" y="15884"/>
                    <a:pt x="12" y="15943"/>
                  </a:cubicBezTo>
                  <a:cubicBezTo>
                    <a:pt x="12" y="16015"/>
                    <a:pt x="12" y="16074"/>
                    <a:pt x="12" y="16146"/>
                  </a:cubicBezTo>
                  <a:cubicBezTo>
                    <a:pt x="12" y="16205"/>
                    <a:pt x="12" y="16276"/>
                    <a:pt x="12" y="16336"/>
                  </a:cubicBezTo>
                  <a:cubicBezTo>
                    <a:pt x="12" y="16396"/>
                    <a:pt x="12" y="16467"/>
                    <a:pt x="12" y="16527"/>
                  </a:cubicBezTo>
                  <a:cubicBezTo>
                    <a:pt x="12" y="16598"/>
                    <a:pt x="12" y="16657"/>
                    <a:pt x="12" y="16729"/>
                  </a:cubicBezTo>
                  <a:cubicBezTo>
                    <a:pt x="12" y="16788"/>
                    <a:pt x="12" y="16860"/>
                    <a:pt x="12" y="16919"/>
                  </a:cubicBezTo>
                  <a:cubicBezTo>
                    <a:pt x="12" y="16979"/>
                    <a:pt x="12" y="17050"/>
                    <a:pt x="12" y="17110"/>
                  </a:cubicBezTo>
                  <a:cubicBezTo>
                    <a:pt x="12" y="17181"/>
                    <a:pt x="12" y="17241"/>
                    <a:pt x="12" y="17312"/>
                  </a:cubicBezTo>
                  <a:cubicBezTo>
                    <a:pt x="12" y="17372"/>
                    <a:pt x="12" y="17443"/>
                    <a:pt x="12" y="17503"/>
                  </a:cubicBezTo>
                  <a:cubicBezTo>
                    <a:pt x="12" y="17562"/>
                    <a:pt x="12" y="17634"/>
                    <a:pt x="12" y="17693"/>
                  </a:cubicBezTo>
                  <a:cubicBezTo>
                    <a:pt x="12" y="17765"/>
                    <a:pt x="12" y="17824"/>
                    <a:pt x="12" y="17896"/>
                  </a:cubicBezTo>
                  <a:cubicBezTo>
                    <a:pt x="12" y="17955"/>
                    <a:pt x="12" y="18015"/>
                    <a:pt x="12" y="18086"/>
                  </a:cubicBezTo>
                  <a:cubicBezTo>
                    <a:pt x="12" y="18146"/>
                    <a:pt x="12" y="18217"/>
                    <a:pt x="12" y="18277"/>
                  </a:cubicBezTo>
                  <a:cubicBezTo>
                    <a:pt x="12" y="18348"/>
                    <a:pt x="12" y="18408"/>
                    <a:pt x="12" y="18479"/>
                  </a:cubicBezTo>
                  <a:cubicBezTo>
                    <a:pt x="12" y="18539"/>
                    <a:pt x="12" y="18598"/>
                    <a:pt x="12" y="18670"/>
                  </a:cubicBezTo>
                  <a:cubicBezTo>
                    <a:pt x="12" y="18729"/>
                    <a:pt x="12" y="18801"/>
                    <a:pt x="12" y="18860"/>
                  </a:cubicBezTo>
                  <a:cubicBezTo>
                    <a:pt x="12" y="18932"/>
                    <a:pt x="12" y="18991"/>
                    <a:pt x="12" y="19063"/>
                  </a:cubicBezTo>
                  <a:cubicBezTo>
                    <a:pt x="12" y="19122"/>
                    <a:pt x="12" y="19182"/>
                    <a:pt x="12" y="19253"/>
                  </a:cubicBezTo>
                  <a:cubicBezTo>
                    <a:pt x="12" y="19313"/>
                    <a:pt x="12" y="19384"/>
                    <a:pt x="12" y="19444"/>
                  </a:cubicBezTo>
                  <a:cubicBezTo>
                    <a:pt x="12" y="19515"/>
                    <a:pt x="12" y="19575"/>
                    <a:pt x="12" y="19646"/>
                  </a:cubicBezTo>
                  <a:cubicBezTo>
                    <a:pt x="12" y="19705"/>
                    <a:pt x="12" y="19765"/>
                    <a:pt x="12" y="19836"/>
                  </a:cubicBezTo>
                  <a:cubicBezTo>
                    <a:pt x="12" y="19896"/>
                    <a:pt x="12" y="19967"/>
                    <a:pt x="12" y="20027"/>
                  </a:cubicBezTo>
                  <a:cubicBezTo>
                    <a:pt x="12" y="20098"/>
                    <a:pt x="12" y="20158"/>
                    <a:pt x="12" y="20229"/>
                  </a:cubicBezTo>
                  <a:cubicBezTo>
                    <a:pt x="12" y="20289"/>
                    <a:pt x="12" y="20348"/>
                    <a:pt x="12" y="20420"/>
                  </a:cubicBezTo>
                  <a:cubicBezTo>
                    <a:pt x="12" y="20479"/>
                    <a:pt x="12" y="20551"/>
                    <a:pt x="12" y="20610"/>
                  </a:cubicBezTo>
                  <a:cubicBezTo>
                    <a:pt x="12" y="20682"/>
                    <a:pt x="12" y="20741"/>
                    <a:pt x="12" y="20813"/>
                  </a:cubicBezTo>
                  <a:cubicBezTo>
                    <a:pt x="12" y="20872"/>
                    <a:pt x="12" y="20932"/>
                    <a:pt x="12" y="21003"/>
                  </a:cubicBezTo>
                  <a:cubicBezTo>
                    <a:pt x="12" y="21063"/>
                    <a:pt x="12" y="21134"/>
                    <a:pt x="12" y="21194"/>
                  </a:cubicBezTo>
                  <a:cubicBezTo>
                    <a:pt x="12" y="21265"/>
                    <a:pt x="12" y="21325"/>
                    <a:pt x="12" y="21396"/>
                  </a:cubicBezTo>
                  <a:cubicBezTo>
                    <a:pt x="12" y="21456"/>
                    <a:pt x="12" y="21515"/>
                    <a:pt x="12" y="21587"/>
                  </a:cubicBezTo>
                  <a:cubicBezTo>
                    <a:pt x="0" y="22515"/>
                    <a:pt x="500" y="23373"/>
                    <a:pt x="1310" y="23837"/>
                  </a:cubicBezTo>
                  <a:lnTo>
                    <a:pt x="36612" y="44208"/>
                  </a:lnTo>
                  <a:cubicBezTo>
                    <a:pt x="37416" y="44679"/>
                    <a:pt x="38315" y="44914"/>
                    <a:pt x="39215" y="44914"/>
                  </a:cubicBezTo>
                  <a:cubicBezTo>
                    <a:pt x="40115" y="44914"/>
                    <a:pt x="41017" y="44679"/>
                    <a:pt x="41827" y="44208"/>
                  </a:cubicBezTo>
                  <a:lnTo>
                    <a:pt x="77129" y="23837"/>
                  </a:lnTo>
                  <a:cubicBezTo>
                    <a:pt x="77939" y="23373"/>
                    <a:pt x="78439" y="22515"/>
                    <a:pt x="78427" y="21587"/>
                  </a:cubicBezTo>
                  <a:lnTo>
                    <a:pt x="78427" y="21384"/>
                  </a:lnTo>
                  <a:lnTo>
                    <a:pt x="78427" y="21194"/>
                  </a:lnTo>
                  <a:lnTo>
                    <a:pt x="78427" y="21003"/>
                  </a:lnTo>
                  <a:lnTo>
                    <a:pt x="78427" y="20801"/>
                  </a:lnTo>
                  <a:lnTo>
                    <a:pt x="78427" y="20610"/>
                  </a:lnTo>
                  <a:lnTo>
                    <a:pt x="78427" y="20420"/>
                  </a:lnTo>
                  <a:lnTo>
                    <a:pt x="78427" y="20217"/>
                  </a:lnTo>
                  <a:lnTo>
                    <a:pt x="78427" y="20027"/>
                  </a:lnTo>
                  <a:lnTo>
                    <a:pt x="78427" y="19836"/>
                  </a:lnTo>
                  <a:lnTo>
                    <a:pt x="78427" y="19634"/>
                  </a:lnTo>
                  <a:lnTo>
                    <a:pt x="78427" y="19444"/>
                  </a:lnTo>
                  <a:lnTo>
                    <a:pt x="78427" y="19253"/>
                  </a:lnTo>
                  <a:lnTo>
                    <a:pt x="78427" y="19051"/>
                  </a:lnTo>
                  <a:lnTo>
                    <a:pt x="78427" y="18860"/>
                  </a:lnTo>
                  <a:lnTo>
                    <a:pt x="78427" y="18670"/>
                  </a:lnTo>
                  <a:lnTo>
                    <a:pt x="78427" y="18467"/>
                  </a:lnTo>
                  <a:lnTo>
                    <a:pt x="78427" y="18277"/>
                  </a:lnTo>
                  <a:lnTo>
                    <a:pt x="78427" y="18086"/>
                  </a:lnTo>
                  <a:lnTo>
                    <a:pt x="78427" y="17884"/>
                  </a:lnTo>
                  <a:lnTo>
                    <a:pt x="78427" y="17693"/>
                  </a:lnTo>
                  <a:lnTo>
                    <a:pt x="78427" y="17503"/>
                  </a:lnTo>
                  <a:lnTo>
                    <a:pt x="78427" y="17300"/>
                  </a:lnTo>
                  <a:lnTo>
                    <a:pt x="78427" y="17110"/>
                  </a:lnTo>
                  <a:lnTo>
                    <a:pt x="78427" y="16919"/>
                  </a:lnTo>
                  <a:lnTo>
                    <a:pt x="78427" y="16717"/>
                  </a:lnTo>
                  <a:lnTo>
                    <a:pt x="78427" y="16527"/>
                  </a:lnTo>
                  <a:lnTo>
                    <a:pt x="78427" y="16336"/>
                  </a:lnTo>
                  <a:lnTo>
                    <a:pt x="78427" y="16146"/>
                  </a:lnTo>
                  <a:lnTo>
                    <a:pt x="78427" y="15943"/>
                  </a:lnTo>
                  <a:lnTo>
                    <a:pt x="78427" y="15753"/>
                  </a:lnTo>
                  <a:lnTo>
                    <a:pt x="78427" y="15562"/>
                  </a:lnTo>
                  <a:lnTo>
                    <a:pt x="78427" y="15360"/>
                  </a:lnTo>
                  <a:lnTo>
                    <a:pt x="78427" y="15169"/>
                  </a:lnTo>
                  <a:lnTo>
                    <a:pt x="78427" y="14979"/>
                  </a:lnTo>
                  <a:lnTo>
                    <a:pt x="78427" y="14776"/>
                  </a:lnTo>
                  <a:lnTo>
                    <a:pt x="78427" y="14586"/>
                  </a:lnTo>
                  <a:lnTo>
                    <a:pt x="78427" y="14395"/>
                  </a:lnTo>
                  <a:lnTo>
                    <a:pt x="78427" y="14193"/>
                  </a:lnTo>
                  <a:lnTo>
                    <a:pt x="78427" y="14002"/>
                  </a:lnTo>
                  <a:lnTo>
                    <a:pt x="78427" y="13812"/>
                  </a:lnTo>
                  <a:lnTo>
                    <a:pt x="78427" y="13609"/>
                  </a:lnTo>
                  <a:lnTo>
                    <a:pt x="78427" y="13419"/>
                  </a:lnTo>
                  <a:lnTo>
                    <a:pt x="78427" y="13228"/>
                  </a:lnTo>
                  <a:lnTo>
                    <a:pt x="78427" y="13026"/>
                  </a:lnTo>
                  <a:lnTo>
                    <a:pt x="78427" y="12836"/>
                  </a:lnTo>
                  <a:lnTo>
                    <a:pt x="78427" y="12645"/>
                  </a:lnTo>
                  <a:lnTo>
                    <a:pt x="78427" y="12443"/>
                  </a:lnTo>
                  <a:lnTo>
                    <a:pt x="78427" y="12252"/>
                  </a:lnTo>
                  <a:lnTo>
                    <a:pt x="78427" y="12062"/>
                  </a:lnTo>
                  <a:lnTo>
                    <a:pt x="78427" y="11859"/>
                  </a:lnTo>
                  <a:lnTo>
                    <a:pt x="78427" y="11669"/>
                  </a:lnTo>
                  <a:lnTo>
                    <a:pt x="78427" y="11478"/>
                  </a:lnTo>
                  <a:lnTo>
                    <a:pt x="78427" y="11276"/>
                  </a:lnTo>
                  <a:lnTo>
                    <a:pt x="78427" y="11085"/>
                  </a:lnTo>
                  <a:lnTo>
                    <a:pt x="78427" y="10895"/>
                  </a:lnTo>
                  <a:lnTo>
                    <a:pt x="78427" y="10692"/>
                  </a:lnTo>
                  <a:lnTo>
                    <a:pt x="78427" y="10502"/>
                  </a:lnTo>
                  <a:lnTo>
                    <a:pt x="78427" y="10311"/>
                  </a:lnTo>
                  <a:lnTo>
                    <a:pt x="78427" y="10109"/>
                  </a:lnTo>
                  <a:lnTo>
                    <a:pt x="78427" y="9919"/>
                  </a:lnTo>
                  <a:lnTo>
                    <a:pt x="78427" y="9728"/>
                  </a:lnTo>
                  <a:lnTo>
                    <a:pt x="78427" y="9526"/>
                  </a:lnTo>
                  <a:lnTo>
                    <a:pt x="78427" y="9335"/>
                  </a:lnTo>
                  <a:lnTo>
                    <a:pt x="78427" y="9145"/>
                  </a:lnTo>
                  <a:lnTo>
                    <a:pt x="78427" y="8942"/>
                  </a:lnTo>
                  <a:lnTo>
                    <a:pt x="78427" y="8752"/>
                  </a:lnTo>
                  <a:lnTo>
                    <a:pt x="78427" y="8561"/>
                  </a:lnTo>
                  <a:lnTo>
                    <a:pt x="78427" y="8359"/>
                  </a:lnTo>
                  <a:lnTo>
                    <a:pt x="78427" y="8168"/>
                  </a:lnTo>
                  <a:lnTo>
                    <a:pt x="78427" y="7978"/>
                  </a:lnTo>
                  <a:lnTo>
                    <a:pt x="78427" y="7775"/>
                  </a:lnTo>
                  <a:lnTo>
                    <a:pt x="78427" y="7585"/>
                  </a:lnTo>
                  <a:lnTo>
                    <a:pt x="78427" y="7394"/>
                  </a:lnTo>
                  <a:lnTo>
                    <a:pt x="78427" y="7192"/>
                  </a:lnTo>
                  <a:lnTo>
                    <a:pt x="78427" y="7002"/>
                  </a:lnTo>
                  <a:lnTo>
                    <a:pt x="78427" y="6811"/>
                  </a:lnTo>
                  <a:lnTo>
                    <a:pt x="78427" y="6609"/>
                  </a:lnTo>
                  <a:lnTo>
                    <a:pt x="78427" y="6418"/>
                  </a:lnTo>
                  <a:lnTo>
                    <a:pt x="78427" y="6228"/>
                  </a:lnTo>
                  <a:lnTo>
                    <a:pt x="78427" y="6025"/>
                  </a:lnTo>
                  <a:lnTo>
                    <a:pt x="78427" y="5835"/>
                  </a:lnTo>
                  <a:lnTo>
                    <a:pt x="78427" y="5644"/>
                  </a:lnTo>
                  <a:lnTo>
                    <a:pt x="78427" y="5442"/>
                  </a:lnTo>
                  <a:lnTo>
                    <a:pt x="78427" y="5251"/>
                  </a:lnTo>
                  <a:lnTo>
                    <a:pt x="78427" y="5061"/>
                  </a:lnTo>
                  <a:lnTo>
                    <a:pt x="78427" y="4858"/>
                  </a:lnTo>
                  <a:lnTo>
                    <a:pt x="78427" y="4668"/>
                  </a:lnTo>
                  <a:lnTo>
                    <a:pt x="78427" y="4477"/>
                  </a:lnTo>
                  <a:lnTo>
                    <a:pt x="78427" y="4275"/>
                  </a:lnTo>
                  <a:lnTo>
                    <a:pt x="78427" y="4085"/>
                  </a:lnTo>
                  <a:lnTo>
                    <a:pt x="78427" y="3894"/>
                  </a:lnTo>
                  <a:lnTo>
                    <a:pt x="78427" y="3692"/>
                  </a:lnTo>
                  <a:lnTo>
                    <a:pt x="78427" y="3501"/>
                  </a:lnTo>
                  <a:lnTo>
                    <a:pt x="78427" y="3311"/>
                  </a:lnTo>
                  <a:lnTo>
                    <a:pt x="78427" y="3108"/>
                  </a:lnTo>
                  <a:lnTo>
                    <a:pt x="78427" y="2918"/>
                  </a:lnTo>
                  <a:lnTo>
                    <a:pt x="78427" y="2727"/>
                  </a:lnTo>
                  <a:lnTo>
                    <a:pt x="78427" y="2525"/>
                  </a:lnTo>
                  <a:lnTo>
                    <a:pt x="78427" y="2334"/>
                  </a:lnTo>
                  <a:lnTo>
                    <a:pt x="78427" y="2144"/>
                  </a:lnTo>
                  <a:lnTo>
                    <a:pt x="78427" y="1941"/>
                  </a:lnTo>
                  <a:lnTo>
                    <a:pt x="78427" y="1751"/>
                  </a:lnTo>
                  <a:lnTo>
                    <a:pt x="78427" y="1560"/>
                  </a:lnTo>
                  <a:lnTo>
                    <a:pt x="78427" y="1358"/>
                  </a:lnTo>
                  <a:lnTo>
                    <a:pt x="78427" y="1167"/>
                  </a:lnTo>
                  <a:lnTo>
                    <a:pt x="78427" y="977"/>
                  </a:lnTo>
                  <a:lnTo>
                    <a:pt x="78427" y="775"/>
                  </a:lnTo>
                  <a:lnTo>
                    <a:pt x="78427" y="584"/>
                  </a:lnTo>
                  <a:lnTo>
                    <a:pt x="78427" y="394"/>
                  </a:lnTo>
                  <a:lnTo>
                    <a:pt x="78427" y="191"/>
                  </a:lnTo>
                  <a:lnTo>
                    <a:pt x="78427" y="1"/>
                  </a:lnTo>
                  <a:lnTo>
                    <a:pt x="78212" y="1"/>
                  </a:lnTo>
                  <a:cubicBezTo>
                    <a:pt x="78224" y="858"/>
                    <a:pt x="77760" y="1644"/>
                    <a:pt x="77022" y="2072"/>
                  </a:cubicBezTo>
                  <a:lnTo>
                    <a:pt x="41720" y="22444"/>
                  </a:lnTo>
                  <a:cubicBezTo>
                    <a:pt x="40946" y="22890"/>
                    <a:pt x="40083" y="23114"/>
                    <a:pt x="39218" y="23114"/>
                  </a:cubicBezTo>
                  <a:cubicBezTo>
                    <a:pt x="38353" y="23114"/>
                    <a:pt x="37487" y="22890"/>
                    <a:pt x="36707" y="22444"/>
                  </a:cubicBezTo>
                  <a:lnTo>
                    <a:pt x="1417" y="2072"/>
                  </a:lnTo>
                  <a:cubicBezTo>
                    <a:pt x="667" y="1644"/>
                    <a:pt x="215" y="858"/>
                    <a:pt x="226" y="1"/>
                  </a:cubicBez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  <a:alpha val="41520"/>
                  </a:srgbClr>
                </a:gs>
                <a:gs pos="100000">
                  <a:srgbClr val="FFFFFF">
                    <a:alpha val="37254"/>
                    <a:alpha val="4152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5553063" y="1487604"/>
              <a:ext cx="1981525" cy="1164300"/>
            </a:xfrm>
            <a:custGeom>
              <a:rect b="b" l="l" r="r" t="t"/>
              <a:pathLst>
                <a:path extrusionOk="0" h="46572" w="79261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rgbClr val="A0FDF1">
                <a:alpha val="415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3"/>
          <p:cNvSpPr/>
          <p:nvPr/>
        </p:nvSpPr>
        <p:spPr>
          <a:xfrm>
            <a:off x="5905421" y="1715825"/>
            <a:ext cx="216600" cy="216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6043496" y="1438775"/>
            <a:ext cx="162600" cy="162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6293996" y="1505825"/>
            <a:ext cx="183600" cy="183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6339421" y="1230450"/>
            <a:ext cx="148500" cy="148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6573921" y="1327775"/>
            <a:ext cx="125100" cy="125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6832446" y="1488450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6832446" y="1267775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7066846" y="1438775"/>
            <a:ext cx="82200" cy="82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7186971" y="1601375"/>
            <a:ext cx="70500" cy="70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7374096" y="16186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/>
          <p:cNvSpPr/>
          <p:nvPr/>
        </p:nvSpPr>
        <p:spPr>
          <a:xfrm>
            <a:off x="7454646" y="1776250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7582571" y="17975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context: Why does it matter?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4835649" y="1299351"/>
            <a:ext cx="14382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48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Amazon Web Services </a:t>
            </a:r>
            <a:endParaRPr b="1" sz="1148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(AWS)</a:t>
            </a:r>
            <a:endParaRPr b="1" sz="1148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4347374" y="1373681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189" name="Google Shape;189;p14"/>
          <p:cNvGrpSpPr/>
          <p:nvPr/>
        </p:nvGrpSpPr>
        <p:grpSpPr>
          <a:xfrm>
            <a:off x="4835452" y="2220960"/>
            <a:ext cx="1437906" cy="569448"/>
            <a:chOff x="1130433" y="2425385"/>
            <a:chExt cx="1752902" cy="694194"/>
          </a:xfrm>
        </p:grpSpPr>
        <p:sp>
          <p:nvSpPr>
            <p:cNvPr id="190" name="Google Shape;190;p14"/>
            <p:cNvSpPr txBox="1"/>
            <p:nvPr/>
          </p:nvSpPr>
          <p:spPr>
            <a:xfrm>
              <a:off x="1130433" y="2425385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Google Cloud Platform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1" name="Google Shape;191;p14"/>
            <p:cNvSpPr txBox="1"/>
            <p:nvPr/>
          </p:nvSpPr>
          <p:spPr>
            <a:xfrm>
              <a:off x="1130435" y="2678880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4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2" name="Google Shape;192;p14"/>
          <p:cNvSpPr/>
          <p:nvPr/>
        </p:nvSpPr>
        <p:spPr>
          <a:xfrm>
            <a:off x="4347374" y="2295507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193" name="Google Shape;193;p14"/>
          <p:cNvGrpSpPr/>
          <p:nvPr/>
        </p:nvGrpSpPr>
        <p:grpSpPr>
          <a:xfrm>
            <a:off x="4835547" y="3142682"/>
            <a:ext cx="1437913" cy="569465"/>
            <a:chOff x="1130549" y="3573038"/>
            <a:chExt cx="1752912" cy="694216"/>
          </a:xfrm>
        </p:grpSpPr>
        <p:sp>
          <p:nvSpPr>
            <p:cNvPr id="194" name="Google Shape;194;p14"/>
            <p:cNvSpPr txBox="1"/>
            <p:nvPr/>
          </p:nvSpPr>
          <p:spPr>
            <a:xfrm>
              <a:off x="1130549" y="3573038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Oracle Cloud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5" name="Google Shape;195;p14"/>
            <p:cNvSpPr txBox="1"/>
            <p:nvPr/>
          </p:nvSpPr>
          <p:spPr>
            <a:xfrm>
              <a:off x="1130560" y="3826553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4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6" name="Google Shape;196;p14"/>
          <p:cNvSpPr/>
          <p:nvPr/>
        </p:nvSpPr>
        <p:spPr>
          <a:xfrm>
            <a:off x="4347374" y="3217341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197" name="Google Shape;197;p14"/>
          <p:cNvGrpSpPr/>
          <p:nvPr/>
        </p:nvGrpSpPr>
        <p:grpSpPr>
          <a:xfrm>
            <a:off x="6910932" y="1299235"/>
            <a:ext cx="1437913" cy="569448"/>
            <a:chOff x="3660580" y="1325753"/>
            <a:chExt cx="1752912" cy="694195"/>
          </a:xfrm>
        </p:grpSpPr>
        <p:sp>
          <p:nvSpPr>
            <p:cNvPr id="198" name="Google Shape;198;p14"/>
            <p:cNvSpPr txBox="1"/>
            <p:nvPr/>
          </p:nvSpPr>
          <p:spPr>
            <a:xfrm>
              <a:off x="3660580" y="1325753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Microsoft Azure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3660591" y="1579249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4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0" name="Google Shape;200;p14"/>
          <p:cNvSpPr/>
          <p:nvPr/>
        </p:nvSpPr>
        <p:spPr>
          <a:xfrm>
            <a:off x="6446689" y="1373681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201" name="Google Shape;201;p14"/>
          <p:cNvGrpSpPr/>
          <p:nvPr/>
        </p:nvGrpSpPr>
        <p:grpSpPr>
          <a:xfrm>
            <a:off x="6910932" y="2220960"/>
            <a:ext cx="1437913" cy="569450"/>
            <a:chOff x="3660580" y="2414153"/>
            <a:chExt cx="1752912" cy="694198"/>
          </a:xfrm>
        </p:grpSpPr>
        <p:sp>
          <p:nvSpPr>
            <p:cNvPr id="202" name="Google Shape;202;p14"/>
            <p:cNvSpPr txBox="1"/>
            <p:nvPr/>
          </p:nvSpPr>
          <p:spPr>
            <a:xfrm>
              <a:off x="3660580" y="2414153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IBM Cloud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3" name="Google Shape;203;p14"/>
            <p:cNvSpPr txBox="1"/>
            <p:nvPr/>
          </p:nvSpPr>
          <p:spPr>
            <a:xfrm>
              <a:off x="3660591" y="2667651"/>
              <a:ext cx="17529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4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4" name="Google Shape;204;p14"/>
          <p:cNvSpPr/>
          <p:nvPr/>
        </p:nvSpPr>
        <p:spPr>
          <a:xfrm>
            <a:off x="6446689" y="2295507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sp>
        <p:nvSpPr>
          <p:cNvPr id="205" name="Google Shape;205;p14"/>
          <p:cNvSpPr/>
          <p:nvPr/>
        </p:nvSpPr>
        <p:spPr>
          <a:xfrm>
            <a:off x="6446689" y="3217341"/>
            <a:ext cx="420600" cy="420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75000" lIns="75000" spcFirstLastPara="1" rIns="75000" wrap="square" tIns="7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/>
          </a:p>
        </p:txBody>
      </p:sp>
      <p:grpSp>
        <p:nvGrpSpPr>
          <p:cNvPr id="206" name="Google Shape;206;p14"/>
          <p:cNvGrpSpPr/>
          <p:nvPr/>
        </p:nvGrpSpPr>
        <p:grpSpPr>
          <a:xfrm>
            <a:off x="6519196" y="1446432"/>
            <a:ext cx="275578" cy="275555"/>
            <a:chOff x="-4478975" y="3251700"/>
            <a:chExt cx="293825" cy="293800"/>
          </a:xfrm>
        </p:grpSpPr>
        <p:sp>
          <p:nvSpPr>
            <p:cNvPr id="207" name="Google Shape;207;p14"/>
            <p:cNvSpPr/>
            <p:nvPr/>
          </p:nvSpPr>
          <p:spPr>
            <a:xfrm>
              <a:off x="-4375000" y="3365100"/>
              <a:ext cx="85075" cy="110900"/>
            </a:xfrm>
            <a:custGeom>
              <a:rect b="b" l="l" r="r" t="t"/>
              <a:pathLst>
                <a:path extrusionOk="0" h="4436" w="3403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-4408875" y="3321800"/>
              <a:ext cx="154400" cy="148875"/>
            </a:xfrm>
            <a:custGeom>
              <a:rect b="b" l="l" r="r" t="t"/>
              <a:pathLst>
                <a:path extrusionOk="0" h="5955" w="6176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-4478975" y="3251700"/>
              <a:ext cx="293825" cy="293800"/>
            </a:xfrm>
            <a:custGeom>
              <a:rect b="b" l="l" r="r" t="t"/>
              <a:pathLst>
                <a:path extrusionOk="0" h="11752" w="11753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4418041" y="1447566"/>
            <a:ext cx="279260" cy="273328"/>
            <a:chOff x="-4480550" y="3970800"/>
            <a:chExt cx="297750" cy="291425"/>
          </a:xfrm>
        </p:grpSpPr>
        <p:sp>
          <p:nvSpPr>
            <p:cNvPr id="211" name="Google Shape;211;p14"/>
            <p:cNvSpPr/>
            <p:nvPr/>
          </p:nvSpPr>
          <p:spPr>
            <a:xfrm>
              <a:off x="-4426200" y="4058225"/>
              <a:ext cx="51225" cy="69325"/>
            </a:xfrm>
            <a:custGeom>
              <a:rect b="b" l="l" r="r" t="t"/>
              <a:pathLst>
                <a:path extrusionOk="0" h="2773" w="2049">
                  <a:moveTo>
                    <a:pt x="1" y="0"/>
                  </a:moveTo>
                  <a:lnTo>
                    <a:pt x="1" y="2773"/>
                  </a:lnTo>
                  <a:lnTo>
                    <a:pt x="2048" y="2773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-4480550" y="3970800"/>
              <a:ext cx="297750" cy="291425"/>
            </a:xfrm>
            <a:custGeom>
              <a:rect b="b" l="l" r="r" t="t"/>
              <a:pathLst>
                <a:path extrusionOk="0" h="11657" w="11910">
                  <a:moveTo>
                    <a:pt x="10082" y="2804"/>
                  </a:moveTo>
                  <a:cubicBezTo>
                    <a:pt x="10492" y="2804"/>
                    <a:pt x="10555" y="3466"/>
                    <a:pt x="10082" y="3466"/>
                  </a:cubicBezTo>
                  <a:lnTo>
                    <a:pt x="5924" y="3466"/>
                  </a:lnTo>
                  <a:cubicBezTo>
                    <a:pt x="5913" y="3466"/>
                    <a:pt x="5903" y="3467"/>
                    <a:pt x="5893" y="3467"/>
                  </a:cubicBezTo>
                  <a:cubicBezTo>
                    <a:pt x="5451" y="3467"/>
                    <a:pt x="5462" y="2804"/>
                    <a:pt x="5924" y="2804"/>
                  </a:cubicBezTo>
                  <a:close/>
                  <a:moveTo>
                    <a:pt x="10082" y="4159"/>
                  </a:moveTo>
                  <a:cubicBezTo>
                    <a:pt x="10492" y="4159"/>
                    <a:pt x="10555" y="4852"/>
                    <a:pt x="10082" y="4852"/>
                  </a:cubicBezTo>
                  <a:lnTo>
                    <a:pt x="5924" y="4852"/>
                  </a:lnTo>
                  <a:cubicBezTo>
                    <a:pt x="5451" y="4852"/>
                    <a:pt x="5451" y="4159"/>
                    <a:pt x="5924" y="4159"/>
                  </a:cubicBezTo>
                  <a:close/>
                  <a:moveTo>
                    <a:pt x="6807" y="5481"/>
                  </a:moveTo>
                  <a:cubicBezTo>
                    <a:pt x="7492" y="5481"/>
                    <a:pt x="8531" y="5513"/>
                    <a:pt x="10082" y="5513"/>
                  </a:cubicBezTo>
                  <a:cubicBezTo>
                    <a:pt x="10492" y="5513"/>
                    <a:pt x="10555" y="6175"/>
                    <a:pt x="10082" y="6175"/>
                  </a:cubicBezTo>
                  <a:lnTo>
                    <a:pt x="5924" y="6175"/>
                  </a:lnTo>
                  <a:lnTo>
                    <a:pt x="5924" y="6206"/>
                  </a:lnTo>
                  <a:cubicBezTo>
                    <a:pt x="5735" y="6206"/>
                    <a:pt x="5577" y="6049"/>
                    <a:pt x="5577" y="5860"/>
                  </a:cubicBezTo>
                  <a:cubicBezTo>
                    <a:pt x="5577" y="5546"/>
                    <a:pt x="5837" y="5481"/>
                    <a:pt x="6807" y="5481"/>
                  </a:cubicBezTo>
                  <a:close/>
                  <a:moveTo>
                    <a:pt x="4569" y="2804"/>
                  </a:moveTo>
                  <a:cubicBezTo>
                    <a:pt x="4758" y="2804"/>
                    <a:pt x="4916" y="2961"/>
                    <a:pt x="4916" y="3151"/>
                  </a:cubicBezTo>
                  <a:lnTo>
                    <a:pt x="4916" y="6585"/>
                  </a:lnTo>
                  <a:cubicBezTo>
                    <a:pt x="4916" y="6774"/>
                    <a:pt x="4758" y="6931"/>
                    <a:pt x="4569" y="6931"/>
                  </a:cubicBezTo>
                  <a:lnTo>
                    <a:pt x="1797" y="6931"/>
                  </a:lnTo>
                  <a:cubicBezTo>
                    <a:pt x="1608" y="6931"/>
                    <a:pt x="1450" y="6774"/>
                    <a:pt x="1450" y="6585"/>
                  </a:cubicBezTo>
                  <a:lnTo>
                    <a:pt x="1450" y="3151"/>
                  </a:lnTo>
                  <a:cubicBezTo>
                    <a:pt x="1450" y="2961"/>
                    <a:pt x="1608" y="2804"/>
                    <a:pt x="1797" y="2804"/>
                  </a:cubicBezTo>
                  <a:close/>
                  <a:moveTo>
                    <a:pt x="4916" y="8317"/>
                  </a:moveTo>
                  <a:lnTo>
                    <a:pt x="4916" y="8979"/>
                  </a:lnTo>
                  <a:lnTo>
                    <a:pt x="3529" y="8979"/>
                  </a:lnTo>
                  <a:lnTo>
                    <a:pt x="3529" y="8317"/>
                  </a:lnTo>
                  <a:close/>
                  <a:moveTo>
                    <a:pt x="8381" y="8317"/>
                  </a:moveTo>
                  <a:lnTo>
                    <a:pt x="8381" y="8979"/>
                  </a:lnTo>
                  <a:lnTo>
                    <a:pt x="6963" y="8979"/>
                  </a:lnTo>
                  <a:lnTo>
                    <a:pt x="6963" y="8317"/>
                  </a:lnTo>
                  <a:close/>
                  <a:moveTo>
                    <a:pt x="1828" y="0"/>
                  </a:moveTo>
                  <a:cubicBezTo>
                    <a:pt x="1419" y="0"/>
                    <a:pt x="1355" y="662"/>
                    <a:pt x="1828" y="662"/>
                  </a:cubicBezTo>
                  <a:lnTo>
                    <a:pt x="2206" y="662"/>
                  </a:lnTo>
                  <a:lnTo>
                    <a:pt x="2206" y="1418"/>
                  </a:lnTo>
                  <a:lnTo>
                    <a:pt x="1166" y="1418"/>
                  </a:lnTo>
                  <a:cubicBezTo>
                    <a:pt x="631" y="1418"/>
                    <a:pt x="158" y="1890"/>
                    <a:pt x="158" y="2426"/>
                  </a:cubicBezTo>
                  <a:lnTo>
                    <a:pt x="158" y="7246"/>
                  </a:lnTo>
                  <a:cubicBezTo>
                    <a:pt x="158" y="7782"/>
                    <a:pt x="631" y="8254"/>
                    <a:pt x="1166" y="8254"/>
                  </a:cubicBezTo>
                  <a:lnTo>
                    <a:pt x="2868" y="8254"/>
                  </a:lnTo>
                  <a:lnTo>
                    <a:pt x="2868" y="8947"/>
                  </a:lnTo>
                  <a:lnTo>
                    <a:pt x="1828" y="8947"/>
                  </a:lnTo>
                  <a:cubicBezTo>
                    <a:pt x="1419" y="8947"/>
                    <a:pt x="1355" y="9609"/>
                    <a:pt x="1828" y="9609"/>
                  </a:cubicBezTo>
                  <a:lnTo>
                    <a:pt x="4916" y="9609"/>
                  </a:lnTo>
                  <a:lnTo>
                    <a:pt x="4916" y="10995"/>
                  </a:lnTo>
                  <a:lnTo>
                    <a:pt x="473" y="10995"/>
                  </a:lnTo>
                  <a:cubicBezTo>
                    <a:pt x="32" y="10995"/>
                    <a:pt x="1" y="11657"/>
                    <a:pt x="473" y="11657"/>
                  </a:cubicBezTo>
                  <a:lnTo>
                    <a:pt x="11437" y="11657"/>
                  </a:lnTo>
                  <a:cubicBezTo>
                    <a:pt x="11878" y="11657"/>
                    <a:pt x="11910" y="10995"/>
                    <a:pt x="11437" y="10995"/>
                  </a:cubicBezTo>
                  <a:lnTo>
                    <a:pt x="6963" y="10995"/>
                  </a:lnTo>
                  <a:lnTo>
                    <a:pt x="6963" y="9609"/>
                  </a:lnTo>
                  <a:lnTo>
                    <a:pt x="10082" y="9609"/>
                  </a:lnTo>
                  <a:cubicBezTo>
                    <a:pt x="10492" y="9609"/>
                    <a:pt x="10555" y="8947"/>
                    <a:pt x="10082" y="8947"/>
                  </a:cubicBezTo>
                  <a:lnTo>
                    <a:pt x="9043" y="8947"/>
                  </a:lnTo>
                  <a:lnTo>
                    <a:pt x="9043" y="8254"/>
                  </a:lnTo>
                  <a:lnTo>
                    <a:pt x="10775" y="8254"/>
                  </a:lnTo>
                  <a:cubicBezTo>
                    <a:pt x="11343" y="8254"/>
                    <a:pt x="11815" y="7782"/>
                    <a:pt x="11815" y="7246"/>
                  </a:cubicBezTo>
                  <a:lnTo>
                    <a:pt x="11815" y="2426"/>
                  </a:lnTo>
                  <a:cubicBezTo>
                    <a:pt x="11815" y="1890"/>
                    <a:pt x="11343" y="1418"/>
                    <a:pt x="10775" y="1418"/>
                  </a:cubicBezTo>
                  <a:lnTo>
                    <a:pt x="9767" y="1418"/>
                  </a:lnTo>
                  <a:lnTo>
                    <a:pt x="9767" y="662"/>
                  </a:lnTo>
                  <a:lnTo>
                    <a:pt x="10114" y="662"/>
                  </a:lnTo>
                  <a:cubicBezTo>
                    <a:pt x="10555" y="662"/>
                    <a:pt x="10586" y="0"/>
                    <a:pt x="10114" y="0"/>
                  </a:cubicBezTo>
                  <a:lnTo>
                    <a:pt x="8728" y="0"/>
                  </a:lnTo>
                  <a:cubicBezTo>
                    <a:pt x="8287" y="0"/>
                    <a:pt x="8255" y="662"/>
                    <a:pt x="8728" y="662"/>
                  </a:cubicBezTo>
                  <a:lnTo>
                    <a:pt x="9074" y="662"/>
                  </a:lnTo>
                  <a:lnTo>
                    <a:pt x="9074" y="1418"/>
                  </a:lnTo>
                  <a:lnTo>
                    <a:pt x="6302" y="1418"/>
                  </a:lnTo>
                  <a:lnTo>
                    <a:pt x="6302" y="662"/>
                  </a:lnTo>
                  <a:lnTo>
                    <a:pt x="6648" y="662"/>
                  </a:lnTo>
                  <a:cubicBezTo>
                    <a:pt x="7089" y="662"/>
                    <a:pt x="7121" y="0"/>
                    <a:pt x="6648" y="0"/>
                  </a:cubicBezTo>
                  <a:lnTo>
                    <a:pt x="5262" y="0"/>
                  </a:lnTo>
                  <a:cubicBezTo>
                    <a:pt x="4821" y="0"/>
                    <a:pt x="4790" y="662"/>
                    <a:pt x="5262" y="662"/>
                  </a:cubicBezTo>
                  <a:lnTo>
                    <a:pt x="5609" y="662"/>
                  </a:lnTo>
                  <a:lnTo>
                    <a:pt x="5609" y="1418"/>
                  </a:lnTo>
                  <a:lnTo>
                    <a:pt x="2868" y="1418"/>
                  </a:lnTo>
                  <a:lnTo>
                    <a:pt x="2868" y="662"/>
                  </a:lnTo>
                  <a:lnTo>
                    <a:pt x="3214" y="662"/>
                  </a:lnTo>
                  <a:cubicBezTo>
                    <a:pt x="3655" y="662"/>
                    <a:pt x="3687" y="0"/>
                    <a:pt x="3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13" name="Google Shape;213;p14"/>
          <p:cNvGrpSpPr/>
          <p:nvPr/>
        </p:nvGrpSpPr>
        <p:grpSpPr>
          <a:xfrm>
            <a:off x="6518196" y="3291626"/>
            <a:ext cx="277783" cy="272507"/>
            <a:chOff x="-1183550" y="3586525"/>
            <a:chExt cx="296175" cy="290550"/>
          </a:xfrm>
        </p:grpSpPr>
        <p:sp>
          <p:nvSpPr>
            <p:cNvPr id="214" name="Google Shape;214;p14"/>
            <p:cNvSpPr/>
            <p:nvPr/>
          </p:nvSpPr>
          <p:spPr>
            <a:xfrm>
              <a:off x="-927575" y="3671500"/>
              <a:ext cx="40200" cy="16575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-1183550" y="3671500"/>
              <a:ext cx="39400" cy="16575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-944250" y="3603025"/>
              <a:ext cx="39525" cy="26375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-1166200" y="3731225"/>
              <a:ext cx="39700" cy="26075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-944925" y="3730950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-1167000" y="3603025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-1065400" y="3658900"/>
              <a:ext cx="59875" cy="77200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-1078000" y="3809325"/>
              <a:ext cx="85075" cy="6775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-1135500" y="3586525"/>
              <a:ext cx="193775" cy="204700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23" name="Google Shape;223;p14"/>
          <p:cNvGrpSpPr/>
          <p:nvPr/>
        </p:nvGrpSpPr>
        <p:grpSpPr>
          <a:xfrm>
            <a:off x="4419631" y="2369380"/>
            <a:ext cx="276282" cy="273351"/>
            <a:chOff x="-1182750" y="3962900"/>
            <a:chExt cx="294575" cy="291450"/>
          </a:xfrm>
        </p:grpSpPr>
        <p:sp>
          <p:nvSpPr>
            <p:cNvPr id="224" name="Google Shape;224;p14"/>
            <p:cNvSpPr/>
            <p:nvPr/>
          </p:nvSpPr>
          <p:spPr>
            <a:xfrm>
              <a:off x="-1078000" y="40306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-1129200" y="40999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-1009475" y="40818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-1182750" y="4168475"/>
              <a:ext cx="292225" cy="34675"/>
            </a:xfrm>
            <a:custGeom>
              <a:rect b="b" l="l" r="r" t="t"/>
              <a:pathLst>
                <a:path extrusionOk="0" h="1387" w="11689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-1117400" y="4220475"/>
              <a:ext cx="161500" cy="33875"/>
            </a:xfrm>
            <a:custGeom>
              <a:rect b="b" l="l" r="r" t="t"/>
              <a:pathLst>
                <a:path extrusionOk="0" h="1355" w="646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-958300" y="40141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-1180400" y="3962900"/>
              <a:ext cx="292225" cy="188275"/>
            </a:xfrm>
            <a:custGeom>
              <a:rect b="b" l="l" r="r" t="t"/>
              <a:pathLst>
                <a:path extrusionOk="0" h="7531" w="11689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4421087" y="3290945"/>
            <a:ext cx="273210" cy="273890"/>
            <a:chOff x="-3771675" y="3971775"/>
            <a:chExt cx="291300" cy="292025"/>
          </a:xfrm>
        </p:grpSpPr>
        <p:sp>
          <p:nvSpPr>
            <p:cNvPr id="232" name="Google Shape;232;p14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37" name="Google Shape;237;p14"/>
          <p:cNvGrpSpPr/>
          <p:nvPr/>
        </p:nvGrpSpPr>
        <p:grpSpPr>
          <a:xfrm>
            <a:off x="6519660" y="2376027"/>
            <a:ext cx="274828" cy="260056"/>
            <a:chOff x="-1592325" y="3957400"/>
            <a:chExt cx="293025" cy="277275"/>
          </a:xfrm>
        </p:grpSpPr>
        <p:sp>
          <p:nvSpPr>
            <p:cNvPr id="238" name="Google Shape;238;p14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8"/>
            </a:p>
          </p:txBody>
        </p:sp>
      </p:grpSp>
      <p:grpSp>
        <p:nvGrpSpPr>
          <p:cNvPr id="242" name="Google Shape;242;p14"/>
          <p:cNvGrpSpPr/>
          <p:nvPr/>
        </p:nvGrpSpPr>
        <p:grpSpPr>
          <a:xfrm>
            <a:off x="6910830" y="3142638"/>
            <a:ext cx="2911577" cy="701616"/>
            <a:chOff x="3660580" y="3573036"/>
            <a:chExt cx="1752906" cy="855316"/>
          </a:xfrm>
        </p:grpSpPr>
        <p:sp>
          <p:nvSpPr>
            <p:cNvPr id="243" name="Google Shape;243;p14"/>
            <p:cNvSpPr txBox="1"/>
            <p:nvPr/>
          </p:nvSpPr>
          <p:spPr>
            <a:xfrm>
              <a:off x="3660580" y="3573036"/>
              <a:ext cx="1752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48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Alibaba Cloud</a:t>
              </a:r>
              <a:endParaRPr sz="1476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44" name="Google Shape;244;p14"/>
            <p:cNvSpPr txBox="1"/>
            <p:nvPr/>
          </p:nvSpPr>
          <p:spPr>
            <a:xfrm>
              <a:off x="3660586" y="3826552"/>
              <a:ext cx="1752900" cy="6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000" lIns="75000" spcFirstLastPara="1" rIns="75000" wrap="square" tIns="75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48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245" name="Google Shape;245;p14"/>
          <p:cNvSpPr txBox="1"/>
          <p:nvPr/>
        </p:nvSpPr>
        <p:spPr>
          <a:xfrm>
            <a:off x="62625" y="1373675"/>
            <a:ext cx="3971700" cy="30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AWS, Azure, and GCP are the three leading cloud platforms used worldwide.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companies rely on these platforms for daily operations and efficiency.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Skilled cloud professionals are in short supply, driving salaries upward.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Employers must compete for talent, making cloud expertise highly valuable.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context: Why does it matter?</a:t>
            </a:r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62625" y="1373675"/>
            <a:ext cx="3971700" cy="58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job seekers compare salary differences among AWS, Azure, and GCP </a:t>
            </a: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skill sets</a:t>
            </a: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identify which platform expertise commands the highest compensation.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Supports companies in budgeting for cloud roles and staying competitive.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 job seekers choose which cloud platform skills offer the best financial return</a:t>
            </a:r>
            <a:b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job seekers to find where the competition is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825" y="1173462"/>
            <a:ext cx="4804874" cy="279658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overview</a:t>
            </a:r>
            <a:endParaRPr/>
          </a:p>
        </p:txBody>
      </p:sp>
      <p:grpSp>
        <p:nvGrpSpPr>
          <p:cNvPr id="258" name="Google Shape;258;p16"/>
          <p:cNvGrpSpPr/>
          <p:nvPr/>
        </p:nvGrpSpPr>
        <p:grpSpPr>
          <a:xfrm>
            <a:off x="217191" y="813700"/>
            <a:ext cx="8701322" cy="3905150"/>
            <a:chOff x="2428889" y="616350"/>
            <a:chExt cx="6412648" cy="3905150"/>
          </a:xfrm>
        </p:grpSpPr>
        <p:sp>
          <p:nvSpPr>
            <p:cNvPr id="259" name="Google Shape;259;p16"/>
            <p:cNvSpPr txBox="1"/>
            <p:nvPr/>
          </p:nvSpPr>
          <p:spPr>
            <a:xfrm>
              <a:off x="4004085" y="622000"/>
              <a:ext cx="27072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0" spcFirstLastPara="1" rIns="0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rriweather"/>
                  <a:ea typeface="Merriweather"/>
                  <a:cs typeface="Merriweather"/>
                  <a:sym typeface="Merriweather"/>
                </a:rPr>
                <a:t>3,606 people</a:t>
              </a:r>
              <a:endParaRPr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0" name="Google Shape;260;p16"/>
            <p:cNvSpPr txBox="1"/>
            <p:nvPr/>
          </p:nvSpPr>
          <p:spPr>
            <a:xfrm>
              <a:off x="4067668" y="1587875"/>
              <a:ext cx="47211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0" spcFirstLastPara="1" rIns="0" wrap="square" tIns="137150">
              <a:no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PlatformHaveWorkedWith : Cloud platforms used</a:t>
              </a:r>
              <a:endParaRPr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261" name="Google Shape;261;p16"/>
            <p:cNvSpPr txBox="1"/>
            <p:nvPr/>
          </p:nvSpPr>
          <p:spPr>
            <a:xfrm>
              <a:off x="4071537" y="2564850"/>
              <a:ext cx="47700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0" spcFirstLastPara="1" rIns="0" wrap="square" tIns="137150">
              <a:norm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ConvertedCompYearly : Annual salary</a:t>
              </a:r>
              <a:endParaRPr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2" name="Google Shape;262;p16"/>
            <p:cNvSpPr txBox="1"/>
            <p:nvPr/>
          </p:nvSpPr>
          <p:spPr>
            <a:xfrm>
              <a:off x="4071500" y="3547700"/>
              <a:ext cx="2643600" cy="97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0" spcFirstLastPara="1" rIns="0" wrap="square" tIns="137150">
              <a:norm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YearsCodePro : Experience</a:t>
              </a:r>
              <a:endParaRPr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3" name="Google Shape;263;p16"/>
            <p:cNvSpPr txBox="1"/>
            <p:nvPr/>
          </p:nvSpPr>
          <p:spPr>
            <a:xfrm>
              <a:off x="2471944" y="616350"/>
              <a:ext cx="14436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91425" spcFirstLastPara="1" rIns="91425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Sample size</a:t>
              </a:r>
              <a:endParaRPr sz="2800">
                <a:solidFill>
                  <a:srgbClr val="EB0A2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4" name="Google Shape;264;p16"/>
            <p:cNvSpPr txBox="1"/>
            <p:nvPr/>
          </p:nvSpPr>
          <p:spPr>
            <a:xfrm>
              <a:off x="2560443" y="1587875"/>
              <a:ext cx="11787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91425" spcFirstLastPara="1" rIns="91425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Variable 1</a:t>
              </a:r>
              <a:endParaRPr sz="2800">
                <a:solidFill>
                  <a:srgbClr val="EB0A2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5" name="Google Shape;265;p16"/>
            <p:cNvSpPr txBox="1"/>
            <p:nvPr/>
          </p:nvSpPr>
          <p:spPr>
            <a:xfrm>
              <a:off x="2560445" y="2570375"/>
              <a:ext cx="1266600" cy="9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91425" spcFirstLastPara="1" rIns="91425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Variable 2</a:t>
              </a:r>
              <a:endParaRPr sz="2800">
                <a:solidFill>
                  <a:srgbClr val="EB0A2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6" name="Google Shape;266;p16"/>
            <p:cNvSpPr txBox="1"/>
            <p:nvPr/>
          </p:nvSpPr>
          <p:spPr>
            <a:xfrm>
              <a:off x="2560446" y="3541950"/>
              <a:ext cx="1511100" cy="97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91425" spcFirstLastPara="1" rIns="91425" wrap="square" tIns="1371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4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Variable 3</a:t>
              </a:r>
              <a:endParaRPr sz="2800">
                <a:solidFill>
                  <a:srgbClr val="EB0A2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cxnSp>
          <p:nvCxnSpPr>
            <p:cNvPr id="267" name="Google Shape;267;p16"/>
            <p:cNvCxnSpPr/>
            <p:nvPr/>
          </p:nvCxnSpPr>
          <p:spPr>
            <a:xfrm rot="10800000">
              <a:off x="2428889" y="1598800"/>
              <a:ext cx="42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6"/>
            <p:cNvCxnSpPr/>
            <p:nvPr/>
          </p:nvCxnSpPr>
          <p:spPr>
            <a:xfrm rot="10800000">
              <a:off x="2428889" y="2564675"/>
              <a:ext cx="42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6"/>
            <p:cNvCxnSpPr/>
            <p:nvPr/>
          </p:nvCxnSpPr>
          <p:spPr>
            <a:xfrm rot="10800000">
              <a:off x="2428889" y="3536188"/>
              <a:ext cx="42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6"/>
            <p:cNvCxnSpPr/>
            <p:nvPr/>
          </p:nvCxnSpPr>
          <p:spPr>
            <a:xfrm rot="10800000">
              <a:off x="2428889" y="4514600"/>
              <a:ext cx="428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Visualization - Showing Key Relationship</a:t>
            </a:r>
            <a:endParaRPr/>
          </a:p>
        </p:txBody>
      </p:sp>
      <p:pic>
        <p:nvPicPr>
          <p:cNvPr id="276" name="Google Shape;2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09" y="1529625"/>
            <a:ext cx="3483691" cy="212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7"/>
          <p:cNvSpPr txBox="1"/>
          <p:nvPr/>
        </p:nvSpPr>
        <p:spPr>
          <a:xfrm>
            <a:off x="4293700" y="1529625"/>
            <a:ext cx="4338300" cy="29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often leads slightly for overall high-paying jobs, followed closely by Azure and GCP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GCP architects sometimes commanding higher specific salaries due to niche skills, while GCP also offers competitive pricing for certain services, influencing overall cost-to-salary perception.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roles like SRE, Solutions Architect, and Machine Learning Engineer are top earners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Azure boasts strong roles like Infrastructure Engineer and Developer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Extra Condensed"/>
              <a:buChar char="●"/>
            </a:pPr>
            <a:r>
              <a:rPr lang="en-GB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GCP shines in specialized areas like AI/Machine learning. 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/>
          <p:nvPr>
            <p:ph type="title"/>
          </p:nvPr>
        </p:nvSpPr>
        <p:spPr>
          <a:xfrm>
            <a:off x="514800" y="9631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Statistical Results - Test Outcome/Interpretation - 1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4395275" y="3936225"/>
            <a:ext cx="47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p18"/>
          <p:cNvPicPr preferRelativeResize="0"/>
          <p:nvPr/>
        </p:nvPicPr>
        <p:blipFill rotWithShape="1">
          <a:blip r:embed="rId3">
            <a:alphaModFix/>
          </a:blip>
          <a:srcRect b="27084" l="15470" r="14808" t="29593"/>
          <a:stretch/>
        </p:blipFill>
        <p:spPr>
          <a:xfrm>
            <a:off x="5368524" y="808176"/>
            <a:ext cx="3156176" cy="1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44000"/>
            <a:ext cx="4491051" cy="202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761700"/>
            <a:ext cx="4167489" cy="202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8"/>
          <p:cNvSpPr txBox="1"/>
          <p:nvPr/>
        </p:nvSpPr>
        <p:spPr>
          <a:xfrm>
            <a:off x="4724775" y="2381225"/>
            <a:ext cx="39045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GB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AWS’s higher Mean indicates that it has a large amount of positively skewed data, indicating a large amount of highly-paid outliers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GB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Assuming outliers, median is the best option for finding a true average, giving Azure the upper hand with the average worker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GB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According to ANOVA, no statistically significant salary differences were found between the platforms, but ANOVA is best for normal distributions. Given that we have some varying salaries, Kruskal-Wallis may be best.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GB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ANOVA which uses Mean saw no difference, but in the Medians, which is used by Kruskal-Wallis test, GCP’s salary  appears to be lower, which fits with the Kruskal </a:t>
            </a:r>
            <a:r>
              <a:rPr lang="en-GB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r>
              <a:rPr lang="en-GB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indication of at least 1 significant difference in salaries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/>
          <p:nvPr>
            <p:ph type="title"/>
          </p:nvPr>
        </p:nvSpPr>
        <p:spPr>
          <a:xfrm>
            <a:off x="481275" y="131400"/>
            <a:ext cx="7547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Statistical Results - Test Outcome/Interpretation - 2</a:t>
            </a:r>
            <a:endParaRPr sz="2000"/>
          </a:p>
        </p:txBody>
      </p:sp>
      <p:pic>
        <p:nvPicPr>
          <p:cNvPr id="293" name="Google Shape;2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7038"/>
            <a:ext cx="5474424" cy="35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9"/>
          <p:cNvSpPr txBox="1"/>
          <p:nvPr/>
        </p:nvSpPr>
        <p:spPr>
          <a:xfrm>
            <a:off x="5514600" y="955500"/>
            <a:ext cx="3629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Engineering Managers and Architects have the highest salaries</a:t>
            </a:r>
            <a:r>
              <a:rPr lang="en-GB" sz="1100">
                <a:solidFill>
                  <a:schemeClr val="dk1"/>
                </a:solidFill>
              </a:rPr>
              <a:t>, reflecting decision-making authority, strategic responsibilities, and broader technical oversight.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Full-stack and back-end developers earn more than front-end</a:t>
            </a:r>
            <a:r>
              <a:rPr lang="en-GB" sz="1100">
                <a:solidFill>
                  <a:schemeClr val="dk1"/>
                </a:solidFill>
              </a:rPr>
              <a:t>, likely due to their involvement in core system logic, scalability, and architecture-heavy work.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Front-end developers earn the least</a:t>
            </a:r>
            <a:r>
              <a:rPr lang="en-GB" sz="1100">
                <a:solidFill>
                  <a:schemeClr val="dk1"/>
                </a:solidFill>
              </a:rPr>
              <a:t> with the smallest spread, suggesting more standardized pay and fewer extremely high-earning positions.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many </a:t>
            </a:r>
            <a:r>
              <a:rPr b="1" lang="en-GB" sz="1100">
                <a:solidFill>
                  <a:schemeClr val="dk1"/>
                </a:solidFill>
              </a:rPr>
              <a:t>high-end outliers</a:t>
            </a:r>
            <a:r>
              <a:rPr lang="en-GB" sz="1100">
                <a:solidFill>
                  <a:schemeClr val="dk1"/>
                </a:solidFill>
              </a:rPr>
              <a:t> across all roles indicate that tech salaries can spike dramatically with seniority, specialized skills, or employment at major companies like FAANG.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Overall, salaries vary widely, but </a:t>
            </a:r>
            <a:r>
              <a:rPr b="1" lang="en-GB" sz="1100">
                <a:solidFill>
                  <a:schemeClr val="dk1"/>
                </a:solidFill>
              </a:rPr>
              <a:t>senior, architecture, and leadership roles consistently command higher pay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/>
          <p:nvPr>
            <p:ph type="title"/>
          </p:nvPr>
        </p:nvSpPr>
        <p:spPr>
          <a:xfrm>
            <a:off x="-1273300" y="21746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Statistical Results - Test Outcome/</a:t>
            </a:r>
            <a:r>
              <a:rPr lang="en-GB"/>
              <a:t>Interpretation</a:t>
            </a:r>
            <a:r>
              <a:rPr lang="en-GB"/>
              <a:t>- 3</a:t>
            </a:r>
            <a:endParaRPr/>
          </a:p>
        </p:txBody>
      </p:sp>
      <p:pic>
        <p:nvPicPr>
          <p:cNvPr id="300" name="Google Shape;3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78" y="1174825"/>
            <a:ext cx="2751675" cy="287597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0"/>
          <p:cNvSpPr txBox="1"/>
          <p:nvPr/>
        </p:nvSpPr>
        <p:spPr>
          <a:xfrm>
            <a:off x="370975" y="1132975"/>
            <a:ext cx="44115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holds the largest market share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showing it remains the most widely used platform across enterprises, startups, and government, which increases job availability for AWS skills.</a:t>
            </a:r>
            <a:b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GCP and Azure have similar adoption levels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indicating competitive but more niche demand compared to AWS.</a:t>
            </a:r>
            <a:b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near tie between Azure and GCP suggests that </a:t>
            </a: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multi-cloud strategies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are common and that skills in either service still support strong employability.</a:t>
            </a:r>
            <a:b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Overall, </a:t>
            </a: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dominates hiring demand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while Azure and GCP provide growing opportunities, especially in companies already invested in Microsoft or Google ecosystems.</a:t>
            </a:r>
            <a:b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4522400" cy="250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5075" y="2466800"/>
            <a:ext cx="4988925" cy="267670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 txBox="1"/>
          <p:nvPr/>
        </p:nvSpPr>
        <p:spPr>
          <a:xfrm>
            <a:off x="-108450" y="2617950"/>
            <a:ext cx="4172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There is a </a:t>
            </a: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positive upward trend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confirming that salary generally increases with experience.</a:t>
            </a:r>
            <a:b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However, the points are widely scattered, meaning </a:t>
            </a: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 alone doesn’t guarantee higher pay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—skills, certifications, company size, and role type also matter.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Even at low experience levels (0–5 years), some people earn well above $200k, showing that </a:t>
            </a: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high-paying roles are accessible early for those with in-demand cloud skills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 higher experience levels (15+ years), pay spreads even more, indicating </a:t>
            </a: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greater variation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in career paths—from mid-level engineers to high-earning managers and architects.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744350" y="311463"/>
            <a:ext cx="4064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Salaries cluster heavily between </a:t>
            </a: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$100k–$200k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showing this is the typical pay range for most cloud-related roles in the U.S.</a:t>
            </a:r>
            <a:b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long right tail (up to $500k) shows that </a:t>
            </a: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top earners—usually senior engineers, architects, or managers—can make far more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but these roles are much less common.</a:t>
            </a:r>
            <a:b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distribution is right-skewed, meaning </a:t>
            </a:r>
            <a:r>
              <a:rPr b="1"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 small group of highly experienced or specialized professionals drive up the top end of cloud salaries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10" name="Google Shape;310;p21"/>
          <p:cNvCxnSpPr/>
          <p:nvPr/>
        </p:nvCxnSpPr>
        <p:spPr>
          <a:xfrm flipH="1" rot="10800000">
            <a:off x="18150" y="2476425"/>
            <a:ext cx="9080400" cy="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 txBox="1"/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</a:t>
            </a:r>
            <a:r>
              <a:rPr lang="en-GB"/>
              <a:t>Recommendations/Review - 1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143300" y="1131200"/>
            <a:ext cx="5617200" cy="3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Cloud Certification ROI                                                                           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Cloud certifications provide strong ROI because cloud roles pay well and have high growth potential. Senior and architecture-focused certifications lead to the highest returns. Roles like Engineering Manager and Architect earn the most, meaning advanced or multi-cloud certifications can lead to higher-paying leadership and design positions.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Which Platform to Standardize O</a:t>
            </a:r>
            <a:r>
              <a:rPr b="1" lang="en-GB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                                                       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 is the best platform to standardize on due to its dominant market share and the widest range of job opportunities. 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Azure and GCP are valuable, but their demand is smaller and more dependent on company-specific ecosystems.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Skill Demand vs. Supply Dynamics                                                       </a:t>
            </a:r>
            <a:r>
              <a:rPr lang="en-GB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Salary variation and high-end outliers suggest strong demand and limited supply of advanced cloud skills, especially for senior architecture and management roles. Developer roles have tighter salary ranges, implying a larger supply of candidates. AWS skills are in highest demand due to adoption rates, while Azure and GCP skills remain competitive but less widely required.</a:t>
            </a:r>
            <a:endParaRPr sz="1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 txBox="1"/>
          <p:nvPr>
            <p:ph type="title"/>
          </p:nvPr>
        </p:nvSpPr>
        <p:spPr>
          <a:xfrm>
            <a:off x="514775" y="70094"/>
            <a:ext cx="8114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Recommendations - 2</a:t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514770" y="1858147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"/>
          <p:cNvSpPr/>
          <p:nvPr/>
        </p:nvSpPr>
        <p:spPr>
          <a:xfrm>
            <a:off x="999886" y="1887097"/>
            <a:ext cx="4251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23"/>
          <p:cNvGrpSpPr/>
          <p:nvPr/>
        </p:nvGrpSpPr>
        <p:grpSpPr>
          <a:xfrm>
            <a:off x="3048050" y="4604175"/>
            <a:ext cx="3227654" cy="2614625"/>
            <a:chOff x="2450703" y="3035025"/>
            <a:chExt cx="3031800" cy="2614625"/>
          </a:xfrm>
        </p:grpSpPr>
        <p:sp>
          <p:nvSpPr>
            <p:cNvPr id="325" name="Google Shape;325;p23"/>
            <p:cNvSpPr txBox="1"/>
            <p:nvPr/>
          </p:nvSpPr>
          <p:spPr>
            <a:xfrm>
              <a:off x="2450703" y="3405950"/>
              <a:ext cx="3031800" cy="22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57200" rtl="0" algn="ctr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6" name="Google Shape;326;p23"/>
            <p:cNvSpPr txBox="1"/>
            <p:nvPr/>
          </p:nvSpPr>
          <p:spPr>
            <a:xfrm>
              <a:off x="3030461" y="3035025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Azure</a:t>
              </a:r>
              <a:endParaRPr sz="18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27" name="Google Shape;327;p23"/>
          <p:cNvSpPr/>
          <p:nvPr/>
        </p:nvSpPr>
        <p:spPr>
          <a:xfrm>
            <a:off x="4077563" y="4464997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23"/>
          <p:cNvGrpSpPr/>
          <p:nvPr/>
        </p:nvGrpSpPr>
        <p:grpSpPr>
          <a:xfrm>
            <a:off x="80623" y="2089525"/>
            <a:ext cx="3017502" cy="2803275"/>
            <a:chOff x="309205" y="3092150"/>
            <a:chExt cx="2834400" cy="2803275"/>
          </a:xfrm>
        </p:grpSpPr>
        <p:sp>
          <p:nvSpPr>
            <p:cNvPr id="329" name="Google Shape;329;p23"/>
            <p:cNvSpPr txBox="1"/>
            <p:nvPr/>
          </p:nvSpPr>
          <p:spPr>
            <a:xfrm flipH="1">
              <a:off x="309205" y="3526325"/>
              <a:ext cx="2834400" cy="23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Narrow the salary spread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by creating clearer leveling, since AWS-related roles show high variability and many outliers.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Improve skill accessibility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, because AWS’s complexity requires more experience to reach higher-paying roles.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Strengthen training pathways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, as its dominant market share means demand is high but talent pipelines lag behind.</a:t>
              </a:r>
              <a:b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</a:b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0" name="Google Shape;330;p23"/>
            <p:cNvSpPr txBox="1"/>
            <p:nvPr/>
          </p:nvSpPr>
          <p:spPr>
            <a:xfrm flipH="1">
              <a:off x="755354" y="309215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AWS</a:t>
              </a:r>
              <a:endParaRPr sz="19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31" name="Google Shape;331;p23"/>
          <p:cNvSpPr/>
          <p:nvPr/>
        </p:nvSpPr>
        <p:spPr>
          <a:xfrm>
            <a:off x="4111448" y="4493947"/>
            <a:ext cx="6477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23"/>
          <p:cNvGrpSpPr/>
          <p:nvPr/>
        </p:nvGrpSpPr>
        <p:grpSpPr>
          <a:xfrm>
            <a:off x="6316575" y="2089525"/>
            <a:ext cx="2676724" cy="3237375"/>
            <a:chOff x="5709568" y="3092150"/>
            <a:chExt cx="2514300" cy="3237375"/>
          </a:xfrm>
        </p:grpSpPr>
        <p:sp>
          <p:nvSpPr>
            <p:cNvPr id="333" name="Google Shape;333;p23"/>
            <p:cNvSpPr txBox="1"/>
            <p:nvPr/>
          </p:nvSpPr>
          <p:spPr>
            <a:xfrm>
              <a:off x="5709568" y="3526325"/>
              <a:ext cx="2514300" cy="280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Boost demand relative to supply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, because GCP’s smaller market share creates fewer high-salary roles overall.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Expand role diversity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, since most high-paying GCP positions center on data/ML rather than broad cloud operations.</a:t>
              </a: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b="1"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Create clearer certification-to-job pipelines</a:t>
              </a:r>
              <a: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so learners can convert skills into higher salaries more reliably.</a:t>
              </a:r>
              <a:br>
                <a:rPr lang="en-GB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</a:br>
              <a:endParaRPr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4" name="Google Shape;334;p23"/>
            <p:cNvSpPr txBox="1"/>
            <p:nvPr/>
          </p:nvSpPr>
          <p:spPr>
            <a:xfrm>
              <a:off x="6009700" y="309215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GCP</a:t>
              </a:r>
              <a:endParaRPr sz="190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sp>
        <p:nvSpPr>
          <p:cNvPr id="335" name="Google Shape;335;p23"/>
          <p:cNvSpPr/>
          <p:nvPr/>
        </p:nvSpPr>
        <p:spPr>
          <a:xfrm>
            <a:off x="7460563" y="1858147"/>
            <a:ext cx="1172400" cy="111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7746480" y="1887097"/>
            <a:ext cx="886500" cy="5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 orange cloud with the word aws written inside of it (Provided by Tenor)" id="337" name="Google Shape;3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70" y="632422"/>
            <a:ext cx="1440850" cy="8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Microsoft Azure.svg - Wikimedia Commons" id="338" name="Google Shape;3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4150" y="3169848"/>
            <a:ext cx="1015501" cy="1015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oogle-cloud-platform.svg - Wikimedia Commons" id="339" name="Google Shape;33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6258" y="583097"/>
            <a:ext cx="1261025" cy="126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 txBox="1"/>
          <p:nvPr/>
        </p:nvSpPr>
        <p:spPr>
          <a:xfrm>
            <a:off x="3185938" y="775525"/>
            <a:ext cx="3000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Increase upper-end salary potential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since Azure roles tend to cluster more tightly and have fewer extreme high earners.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Enhance hands-on learning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because many Azure roles rely on Microsoft ecosystem familiarity, limiting newcomers.</a:t>
            </a: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Support career mobility</a:t>
            </a:r>
            <a: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helping Azure learners transition into higher-paying architect and manager tracks.</a:t>
            </a:r>
            <a:br>
              <a:rPr lang="en-GB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endParaRPr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